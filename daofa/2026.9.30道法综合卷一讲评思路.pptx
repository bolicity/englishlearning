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914" r:id="rId3"/>
    <p:sldId id="3904" r:id="rId4"/>
    <p:sldId id="3910" r:id="rId5"/>
    <p:sldId id="3911" r:id="rId6"/>
    <p:sldId id="3900" r:id="rId7"/>
    <p:sldId id="3906" r:id="rId8"/>
    <p:sldId id="3908" r:id="rId9"/>
    <p:sldId id="3894" r:id="rId10"/>
    <p:sldId id="389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552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783ED5-BD37-489B-ABAE-7B5029F6362D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3ADAC-2800-40FF-B089-A9950C7306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02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3ADAC-2800-40FF-B089-A9950C73063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72558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3EDD1-1EBF-6DB5-1F96-4806235AB9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50CB3F9-D349-1351-EC8F-F609F09A07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80FF6D-54C1-75A6-D4B9-2634DD946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2EE163-043E-A00A-8F0F-B7841C3776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B3ADAC-2800-40FF-B089-A9950C73063C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521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CB8E4C-D16F-4EAE-91F8-E67DBD872B3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1860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8BC833-6299-22F1-3266-6BA95CD0E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135205-BBF1-5306-7823-14B40BBF3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A9542B-9D10-E5E2-5508-4C7B601FD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902765-D838-F352-531D-5AA5702C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1176F-51F1-F43C-9614-79A222B56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0218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E51E0E-FF1C-5027-339F-62CBBF3EC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C2E7BF-71A0-F693-95DB-35D8751DC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15ACC9-1B56-64CA-BF4A-51AA6F7CE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666967-49DD-3ECA-9E3A-547AB5F3C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272A30-3A45-9312-62B4-CC9E34B9F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73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52500B-A05D-7A53-B1AC-B75CEF04D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CA7743C-B4A1-AD10-D1B8-7C3B52D36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A6600F-4200-F856-E2E4-C5ED14CB7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3AECD9-3722-B197-5872-E230FC4EB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AA5CF2-853D-42E5-4DB5-B547C9FC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591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D489CE-B8EF-D546-A9A5-915A3C262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1A3E51-9827-8BCE-7E3E-BD448DA64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03C78C-7D3E-8C7C-4BFF-A73BD4B937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D55C1EE-7949-FD86-5FF6-E56A15FC9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71DD73-031C-9C65-2062-557695FC4C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EE83771-6EA8-AAF4-C81E-E7AB3356F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58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A9CBE8-6DC6-4B92-14F6-608AC0953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F8ACB8-87FA-A435-8070-B52B7B70B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C90492-747F-FA48-04B6-C824151ABE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2FEC2D8-4051-C357-D05D-5B09C08DC0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244B8BB6-E338-9736-D37A-1115233DE9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E12681A-FD20-AAB5-FE51-5F47DDA8E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F8DCE9-701A-F0B3-3F3B-3534C3A24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FAE66D-FBED-7966-AD5F-1DF032E47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4813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7FD899-9D64-FD6B-CEB1-7DF3FB436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89FE2A9-C88D-258A-1616-6E004DA4E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FE3F72-BB3B-9C79-5305-5351CDCF7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3EAAB7E-87DE-34EF-900D-D64C089E7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4127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EABC65-5926-61F2-310D-00EB44199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4199253-074F-2CF4-3301-8E7CCC10E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BAFE412-F95C-28E6-8EBD-41B21C782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66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131A1-3725-2006-2B88-51B0FEFE2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A1DEF5-71D1-89DD-ACD0-158AB0496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5CEE1E0-F9B4-E7A1-A796-3A3A7FB149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BCF2DE5-3C6F-E2AC-0AFE-904B1E196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C7FBF39-1B7B-C2D6-B6C7-BBE0FD219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C9C650-96D6-1E4D-5A43-814418B7F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5444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44FF9C-2A2C-C069-85EA-95159AB45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5FFB95-413D-FF71-F1CA-087ABDEF4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96391CD-88B7-B05F-7057-4F4806D669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0DBFEA-2141-1E59-AAE6-B3270B24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BBB260-80D7-16F4-8D6E-D01D33709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55F6FC-0F37-794D-46C7-B30BF89D2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960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C9EF9-5072-8B07-9574-8FF642FF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540D559-74F3-B37C-2DC4-018B097619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06AC7F-7EFF-311A-BC5C-16DA183F2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D70333A-6397-DAC0-3D70-2607634B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473C9A-821D-0AFE-2AFC-718BE46E9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67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4171BD-485D-000F-2DA0-0E5C588E5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324F9D-30F5-9B12-20FB-427E21CB79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53827B-01EB-D017-780D-742F8F6AE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BD058E-C217-5A30-8839-FF8A9C88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5C81A8-793F-50BA-FA55-F3A3735B8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251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D3D160-C432-EBA5-C0F4-8076A0621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398453-33EC-0751-F3BD-55168AB2E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E84BF2B-1BF4-EEC9-B61D-201BD865FE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179D45-CAD9-44F8-A2A8-1C1292E4E4A1}" type="datetimeFigureOut">
              <a:rPr lang="zh-CN" altLang="en-US" smtClean="0"/>
              <a:t>2026/9/30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9B0F4B-CBC9-DE5F-3A31-D19CE727F4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E7721A7-2156-8C27-9DD3-FBD1CEEE48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1FFBE1-7CEE-49B2-A77A-6D66373EA3A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4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DA711162-56AD-50BC-4F66-7A6DD75B8A7F}"/>
              </a:ext>
            </a:extLst>
          </p:cNvPr>
          <p:cNvSpPr txBox="1"/>
          <p:nvPr/>
        </p:nvSpPr>
        <p:spPr>
          <a:xfrm>
            <a:off x="3628845" y="887430"/>
            <a:ext cx="50784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dirty="0">
                <a:solidFill>
                  <a:srgbClr val="FF000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道法综合一讲评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52F6E1-558B-A5E8-CD79-B63077B7E241}"/>
              </a:ext>
            </a:extLst>
          </p:cNvPr>
          <p:cNvSpPr/>
          <p:nvPr/>
        </p:nvSpPr>
        <p:spPr>
          <a:xfrm>
            <a:off x="1335141" y="2677521"/>
            <a:ext cx="10683410" cy="927340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32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核心逻辑：基于</a:t>
            </a:r>
            <a:r>
              <a:rPr lang="zh-CN" altLang="en-US" sz="3200" b="1" dirty="0">
                <a:solidFill>
                  <a:srgbClr val="00B05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情境  </a:t>
            </a:r>
            <a:r>
              <a:rPr lang="zh-CN" altLang="en-US" sz="32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运用</a:t>
            </a:r>
            <a:r>
              <a:rPr lang="zh-CN" altLang="en-US" sz="3200" b="1" dirty="0">
                <a:solidFill>
                  <a:schemeClr val="accent2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知识  </a:t>
            </a:r>
            <a:r>
              <a:rPr lang="zh-CN" altLang="en-US" sz="3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解决</a:t>
            </a:r>
            <a:r>
              <a:rPr lang="zh-CN" altLang="en-US" sz="32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问题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6F98B40-651C-035C-3AD2-54F1BCD84336}"/>
              </a:ext>
            </a:extLst>
          </p:cNvPr>
          <p:cNvSpPr txBox="1"/>
          <p:nvPr/>
        </p:nvSpPr>
        <p:spPr>
          <a:xfrm>
            <a:off x="865520" y="2095128"/>
            <a:ext cx="346533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道法解题思路： 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72EDFE1-40CA-52DC-D59E-47D5591DFCC9}"/>
              </a:ext>
            </a:extLst>
          </p:cNvPr>
          <p:cNvSpPr/>
          <p:nvPr/>
        </p:nvSpPr>
        <p:spPr>
          <a:xfrm>
            <a:off x="1199076" y="2788365"/>
            <a:ext cx="8830571" cy="646331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529ED30-8CB0-F00B-D68E-8E271754A365}"/>
              </a:ext>
            </a:extLst>
          </p:cNvPr>
          <p:cNvSpPr/>
          <p:nvPr/>
        </p:nvSpPr>
        <p:spPr>
          <a:xfrm>
            <a:off x="7330543" y="3811889"/>
            <a:ext cx="4262438" cy="2532793"/>
          </a:xfrm>
          <a:prstGeom prst="rect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①</a:t>
            </a:r>
            <a:r>
              <a:rPr lang="zh-CN" altLang="en-US" sz="2400" b="1" dirty="0">
                <a:solidFill>
                  <a:srgbClr val="FF000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明任务</a:t>
            </a:r>
            <a:endParaRPr lang="en-US" altLang="zh-CN" sz="2400" b="1" dirty="0">
              <a:solidFill>
                <a:srgbClr val="FF0000"/>
              </a:solidFill>
              <a:highlight>
                <a:srgbClr val="FFFF00"/>
              </a:highlight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②</a:t>
            </a:r>
            <a:r>
              <a:rPr lang="zh-CN" altLang="en-US" sz="2400" b="1" dirty="0">
                <a:solidFill>
                  <a:srgbClr val="0070C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判思路</a:t>
            </a:r>
            <a:endParaRPr lang="en-US" altLang="zh-CN" sz="2400" b="1" dirty="0">
              <a:solidFill>
                <a:srgbClr val="0070C0"/>
              </a:solidFill>
              <a:highlight>
                <a:srgbClr val="FFFF00"/>
              </a:highlight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③根据思路匹配</a:t>
            </a:r>
            <a:r>
              <a:rPr lang="zh-CN" altLang="en-US" sz="2400" b="1" u="sng" dirty="0">
                <a:solidFill>
                  <a:srgbClr val="00B05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材料</a:t>
            </a:r>
            <a:r>
              <a:rPr lang="zh-CN" altLang="en-US" sz="24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与</a:t>
            </a:r>
            <a:r>
              <a:rPr lang="zh-CN" altLang="en-US" sz="2400" b="1" u="sng" dirty="0">
                <a:solidFill>
                  <a:schemeClr val="accent2">
                    <a:lumMod val="75000"/>
                  </a:schemeClr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知识</a:t>
            </a:r>
            <a:r>
              <a:rPr lang="zh-CN" altLang="en-US" sz="24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    </a:t>
            </a:r>
            <a:endParaRPr lang="en-US" altLang="zh-CN" sz="2400" b="1" dirty="0"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④推理</a:t>
            </a:r>
            <a:r>
              <a:rPr lang="zh-CN" altLang="en-US" sz="2400" b="1" dirty="0">
                <a:highlight>
                  <a:srgbClr val="FFFF00"/>
                </a:highlight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分析</a:t>
            </a:r>
            <a:r>
              <a:rPr lang="zh-CN" altLang="en-US" sz="2400" b="1" dirty="0">
                <a:solidFill>
                  <a:srgbClr val="FF0000"/>
                </a:solidFill>
                <a:latin typeface="方正宋刻本秀楷简体" panose="02000000000000000000" pitchFamily="2" charset="-122"/>
                <a:ea typeface="方正宋刻本秀楷简体" panose="02000000000000000000" pitchFamily="2" charset="-122"/>
              </a:rPr>
              <a:t>解决任务 </a:t>
            </a:r>
            <a:endParaRPr lang="en-US" altLang="zh-CN" sz="2400" b="1" dirty="0">
              <a:solidFill>
                <a:srgbClr val="FF0000"/>
              </a:solidFill>
              <a:latin typeface="方正宋刻本秀楷简体" panose="02000000000000000000" pitchFamily="2" charset="-122"/>
              <a:ea typeface="方正宋刻本秀楷简体" panose="02000000000000000000" pitchFamily="2" charset="-122"/>
            </a:endParaRPr>
          </a:p>
        </p:txBody>
      </p:sp>
      <p:sp>
        <p:nvSpPr>
          <p:cNvPr id="15" name="箭头: 下 14">
            <a:extLst>
              <a:ext uri="{FF2B5EF4-FFF2-40B4-BE49-F238E27FC236}">
                <a16:creationId xmlns:a16="http://schemas.microsoft.com/office/drawing/2014/main" id="{3DAF9490-3098-12DF-D24E-0527472C94D0}"/>
              </a:ext>
            </a:extLst>
          </p:cNvPr>
          <p:cNvSpPr/>
          <p:nvPr/>
        </p:nvSpPr>
        <p:spPr>
          <a:xfrm>
            <a:off x="7564918" y="3434695"/>
            <a:ext cx="354131" cy="646331"/>
          </a:xfrm>
          <a:prstGeom prst="downArrow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6850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59D9D7-1053-22FD-75FF-BFB14B09D93B}"/>
              </a:ext>
            </a:extLst>
          </p:cNvPr>
          <p:cNvSpPr/>
          <p:nvPr/>
        </p:nvSpPr>
        <p:spPr>
          <a:xfrm>
            <a:off x="1141233" y="1536670"/>
            <a:ext cx="2394918" cy="1318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明任务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判主体</a:t>
            </a:r>
            <a:endParaRPr lang="en-US" altLang="zh-CN" sz="2400" b="1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构思路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1A8C0E19-6026-5BB0-654C-CF0423193F89}"/>
              </a:ext>
            </a:extLst>
          </p:cNvPr>
          <p:cNvSpPr/>
          <p:nvPr/>
        </p:nvSpPr>
        <p:spPr>
          <a:xfrm>
            <a:off x="3312345" y="1919575"/>
            <a:ext cx="641230" cy="55209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419388-3150-0175-19D3-2B64492E9D59}"/>
              </a:ext>
            </a:extLst>
          </p:cNvPr>
          <p:cNvSpPr/>
          <p:nvPr/>
        </p:nvSpPr>
        <p:spPr>
          <a:xfrm>
            <a:off x="3897171" y="2137264"/>
            <a:ext cx="2395220" cy="76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定知识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角度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类型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B20199-E7BF-0D33-BF9C-44C66CE4CB73}"/>
              </a:ext>
            </a:extLst>
          </p:cNvPr>
          <p:cNvSpPr/>
          <p:nvPr/>
        </p:nvSpPr>
        <p:spPr>
          <a:xfrm>
            <a:off x="3703052" y="1361735"/>
            <a:ext cx="2766203" cy="8338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找材料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主体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关键信息</a:t>
            </a:r>
          </a:p>
          <a:p>
            <a:pPr algn="ctr"/>
            <a:endParaRPr lang="zh-CN" altLang="en-US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AB0ADF-FE73-15AF-0C56-121722B709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9016" b="17742"/>
          <a:stretch>
            <a:fillRect/>
          </a:stretch>
        </p:blipFill>
        <p:spPr>
          <a:xfrm>
            <a:off x="6557584" y="1384844"/>
            <a:ext cx="1645902" cy="155208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23DB63-849F-BA1F-8C31-EF5841AE44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88"/>
          <a:stretch>
            <a:fillRect/>
          </a:stretch>
        </p:blipFill>
        <p:spPr>
          <a:xfrm>
            <a:off x="8327486" y="1140504"/>
            <a:ext cx="2448908" cy="19301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B9A2C50-3B25-8434-6ECC-9915F9142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051" b="973"/>
          <a:stretch>
            <a:fillRect/>
          </a:stretch>
        </p:blipFill>
        <p:spPr>
          <a:xfrm>
            <a:off x="979763" y="3712458"/>
            <a:ext cx="10006632" cy="2276559"/>
          </a:xfrm>
          <a:prstGeom prst="rect">
            <a:avLst/>
          </a:prstGeom>
          <a:ln w="57150">
            <a:solidFill>
              <a:schemeClr val="accent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09351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4" grpId="1"/>
      <p:bldP spid="5" grpId="0" animBg="1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7CF62-6378-F915-F35E-F32BDACE4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F67D2F6-446C-C95B-1F3C-FBE260A538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004"/>
          <a:stretch>
            <a:fillRect/>
          </a:stretch>
        </p:blipFill>
        <p:spPr>
          <a:xfrm>
            <a:off x="346865" y="1"/>
            <a:ext cx="7677462" cy="5330890"/>
          </a:xfrm>
          <a:prstGeom prst="rect">
            <a:avLst/>
          </a:prstGeom>
        </p:spPr>
      </p:pic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9C6DA75-3A27-2E2A-6D07-34791FB49DCB}"/>
              </a:ext>
            </a:extLst>
          </p:cNvPr>
          <p:cNvCxnSpPr/>
          <p:nvPr/>
        </p:nvCxnSpPr>
        <p:spPr>
          <a:xfrm>
            <a:off x="5290585" y="2062065"/>
            <a:ext cx="2301551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6CDF9BC-2F76-E0FC-B0B7-C5AFFEB80E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2881" r="16407" b="-518"/>
          <a:stretch>
            <a:fillRect/>
          </a:stretch>
        </p:blipFill>
        <p:spPr>
          <a:xfrm>
            <a:off x="59841" y="5616108"/>
            <a:ext cx="8251510" cy="615821"/>
          </a:xfrm>
          <a:prstGeom prst="rect">
            <a:avLst/>
          </a:prstGeom>
        </p:spPr>
      </p:pic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244A2E54-3637-9BC6-4BB2-886E0336B48C}"/>
              </a:ext>
            </a:extLst>
          </p:cNvPr>
          <p:cNvCxnSpPr/>
          <p:nvPr/>
        </p:nvCxnSpPr>
        <p:spPr>
          <a:xfrm>
            <a:off x="1275312" y="1903445"/>
            <a:ext cx="2301551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矩形 4">
            <a:extLst>
              <a:ext uri="{FF2B5EF4-FFF2-40B4-BE49-F238E27FC236}">
                <a16:creationId xmlns:a16="http://schemas.microsoft.com/office/drawing/2014/main" id="{B1B1A56B-BDEF-4904-9EFF-7DE53C6967D2}"/>
              </a:ext>
            </a:extLst>
          </p:cNvPr>
          <p:cNvSpPr/>
          <p:nvPr/>
        </p:nvSpPr>
        <p:spPr>
          <a:xfrm>
            <a:off x="2779439" y="4609698"/>
            <a:ext cx="3807837" cy="1004302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思路：图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→经济成就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  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→民生成就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  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图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关系（经济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民生）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B2EF35D-B6AC-9A8D-C729-D2136D4744E6}"/>
              </a:ext>
            </a:extLst>
          </p:cNvPr>
          <p:cNvSpPr/>
          <p:nvPr/>
        </p:nvSpPr>
        <p:spPr>
          <a:xfrm>
            <a:off x="4710603" y="5770733"/>
            <a:ext cx="680992" cy="381543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1C7A43D-A241-9EFC-EB3D-F290B059CC55}"/>
              </a:ext>
            </a:extLst>
          </p:cNvPr>
          <p:cNvCxnSpPr>
            <a:cxnSpLocks/>
          </p:cNvCxnSpPr>
          <p:nvPr/>
        </p:nvCxnSpPr>
        <p:spPr>
          <a:xfrm>
            <a:off x="4788768" y="6080024"/>
            <a:ext cx="261446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3685D94C-6468-EDD4-5DC8-D7003BD404D1}"/>
              </a:ext>
            </a:extLst>
          </p:cNvPr>
          <p:cNvSpPr/>
          <p:nvPr/>
        </p:nvSpPr>
        <p:spPr>
          <a:xfrm>
            <a:off x="1065459" y="5698459"/>
            <a:ext cx="1292076" cy="45381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3917DC9-0031-CEC2-3629-633013D2E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82" y="213248"/>
            <a:ext cx="10660298" cy="10777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73AB5F4-C1C8-2032-1326-450BCB4AD9EC}"/>
              </a:ext>
            </a:extLst>
          </p:cNvPr>
          <p:cNvSpPr/>
          <p:nvPr/>
        </p:nvSpPr>
        <p:spPr>
          <a:xfrm>
            <a:off x="937853" y="3167601"/>
            <a:ext cx="3049429" cy="696649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经济成就：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经济实力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发展质量提升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B093980-60C4-DDC6-3B3E-4C064B7DDBFD}"/>
              </a:ext>
            </a:extLst>
          </p:cNvPr>
          <p:cNvSpPr/>
          <p:nvPr/>
        </p:nvSpPr>
        <p:spPr>
          <a:xfrm>
            <a:off x="4464864" y="3105744"/>
            <a:ext cx="2694865" cy="696650"/>
          </a:xfrm>
          <a:prstGeom prst="rect">
            <a:avLst/>
          </a:prstGeom>
          <a:solidFill>
            <a:srgbClr val="0070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民生成就：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福祉增进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脱贫攻坚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58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3BE14D1-6E7C-92C7-5290-4425AE1573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060"/>
          <a:stretch>
            <a:fillRect/>
          </a:stretch>
        </p:blipFill>
        <p:spPr>
          <a:xfrm>
            <a:off x="7226894" y="1551961"/>
            <a:ext cx="5021617" cy="5092791"/>
          </a:xfrm>
          <a:prstGeom prst="rect">
            <a:avLst/>
          </a:prstGeom>
        </p:spPr>
      </p:pic>
      <p:sp>
        <p:nvSpPr>
          <p:cNvPr id="20" name="箭头: 右 19">
            <a:extLst>
              <a:ext uri="{FF2B5EF4-FFF2-40B4-BE49-F238E27FC236}">
                <a16:creationId xmlns:a16="http://schemas.microsoft.com/office/drawing/2014/main" id="{0D59FB7A-C9C3-4AF9-D95E-BE951F9CA47D}"/>
              </a:ext>
            </a:extLst>
          </p:cNvPr>
          <p:cNvSpPr/>
          <p:nvPr/>
        </p:nvSpPr>
        <p:spPr>
          <a:xfrm>
            <a:off x="3301831" y="1920175"/>
            <a:ext cx="2100048" cy="11914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/>
              <a:t>3.</a:t>
            </a:r>
            <a:r>
              <a:rPr lang="zh-CN" altLang="en-US" sz="2000" b="1" dirty="0"/>
              <a:t>关系：</a:t>
            </a:r>
            <a:endParaRPr lang="en-US" altLang="zh-CN" sz="2000" b="1" dirty="0"/>
          </a:p>
          <a:p>
            <a:pPr algn="ctr"/>
            <a:r>
              <a:rPr lang="zh-CN" altLang="en-US" sz="2000" b="1" dirty="0"/>
              <a:t>提供物质保障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634AAA4-11C5-3DCA-6F46-49E80C3CD38C}"/>
              </a:ext>
            </a:extLst>
          </p:cNvPr>
          <p:cNvSpPr/>
          <p:nvPr/>
        </p:nvSpPr>
        <p:spPr>
          <a:xfrm>
            <a:off x="874852" y="1700960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BA640F-F1D9-6969-97EC-5198B16D62C0}"/>
              </a:ext>
            </a:extLst>
          </p:cNvPr>
          <p:cNvSpPr/>
          <p:nvPr/>
        </p:nvSpPr>
        <p:spPr>
          <a:xfrm>
            <a:off x="4858394" y="1782987"/>
            <a:ext cx="381214" cy="31531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8746352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5" grpId="0" animBg="1"/>
      <p:bldP spid="16" grpId="0" animBg="1"/>
      <p:bldP spid="20" grpId="0" animBg="1"/>
      <p:bldP spid="4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C1B0C58-47B4-C1CB-A065-B5200FE8C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8" y="0"/>
            <a:ext cx="7198501" cy="43780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3A164931-E843-901D-F04E-9DE421996BE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6" y="3901926"/>
            <a:ext cx="7113053" cy="29560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C0869F-6CC2-432D-0B7E-CE1203A51430}"/>
              </a:ext>
            </a:extLst>
          </p:cNvPr>
          <p:cNvSpPr txBox="1"/>
          <p:nvPr/>
        </p:nvSpPr>
        <p:spPr>
          <a:xfrm>
            <a:off x="7341778" y="235637"/>
            <a:ext cx="47215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由此，同学们推测未来我国一定能够巩固和拓展脱贫攻坚成果。请结合上述材料，综合运用所 学内容，说明同学们提出推测的理由。（6分）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900B8BE-1606-F150-AA4E-7EA23CBA9E26}"/>
              </a:ext>
            </a:extLst>
          </p:cNvPr>
          <p:cNvSpPr/>
          <p:nvPr/>
        </p:nvSpPr>
        <p:spPr>
          <a:xfrm>
            <a:off x="7754005" y="1797206"/>
            <a:ext cx="3807837" cy="10437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思路（材→知）：经济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民生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过去：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我国取得的成就→基础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现在：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党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国家的理念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做法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C272FC4-FB0A-8E7D-8960-5541D907966C}"/>
              </a:ext>
            </a:extLst>
          </p:cNvPr>
          <p:cNvCxnSpPr>
            <a:cxnSpLocks/>
          </p:cNvCxnSpPr>
          <p:nvPr/>
        </p:nvCxnSpPr>
        <p:spPr>
          <a:xfrm>
            <a:off x="7462957" y="972905"/>
            <a:ext cx="36421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964401A6-8E61-B353-2A08-CD93BC678232}"/>
              </a:ext>
            </a:extLst>
          </p:cNvPr>
          <p:cNvSpPr/>
          <p:nvPr/>
        </p:nvSpPr>
        <p:spPr>
          <a:xfrm>
            <a:off x="10518126" y="270958"/>
            <a:ext cx="736819" cy="37208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64529A6E-F809-8FC2-38BE-82BAC7617030}"/>
              </a:ext>
            </a:extLst>
          </p:cNvPr>
          <p:cNvCxnSpPr>
            <a:cxnSpLocks/>
          </p:cNvCxnSpPr>
          <p:nvPr/>
        </p:nvCxnSpPr>
        <p:spPr>
          <a:xfrm>
            <a:off x="10110158" y="607720"/>
            <a:ext cx="17856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E2DCEE1B-9E57-2FB5-F376-ACB1F63756F2}"/>
              </a:ext>
            </a:extLst>
          </p:cNvPr>
          <p:cNvSpPr/>
          <p:nvPr/>
        </p:nvSpPr>
        <p:spPr>
          <a:xfrm>
            <a:off x="9334130" y="1260555"/>
            <a:ext cx="1552406" cy="3784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974E83A-16D5-7BDF-470F-13DC9AA1BF64}"/>
              </a:ext>
            </a:extLst>
          </p:cNvPr>
          <p:cNvSpPr/>
          <p:nvPr/>
        </p:nvSpPr>
        <p:spPr>
          <a:xfrm>
            <a:off x="7279400" y="3747647"/>
            <a:ext cx="3181566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①经济实力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发展质量提升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3AE7E6-1BB8-9683-FDC0-4043293E776E}"/>
              </a:ext>
            </a:extLst>
          </p:cNvPr>
          <p:cNvSpPr/>
          <p:nvPr/>
        </p:nvSpPr>
        <p:spPr>
          <a:xfrm>
            <a:off x="630158" y="1524532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2BCEF87-47DF-F596-1E36-92BABCDA3F6A}"/>
              </a:ext>
            </a:extLst>
          </p:cNvPr>
          <p:cNvSpPr/>
          <p:nvPr/>
        </p:nvSpPr>
        <p:spPr>
          <a:xfrm>
            <a:off x="7279400" y="3183394"/>
            <a:ext cx="1280879" cy="37424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推测理由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FFCEBDC-9114-867F-8EFC-FB33687C83D9}"/>
              </a:ext>
            </a:extLst>
          </p:cNvPr>
          <p:cNvSpPr/>
          <p:nvPr/>
        </p:nvSpPr>
        <p:spPr>
          <a:xfrm>
            <a:off x="7303300" y="4312126"/>
            <a:ext cx="3008142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②党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农业强国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乡村振兴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F4E0B261-8B6D-D8D9-A095-8EF71C781549}"/>
              </a:ext>
            </a:extLst>
          </p:cNvPr>
          <p:cNvCxnSpPr>
            <a:cxnSpLocks/>
          </p:cNvCxnSpPr>
          <p:nvPr/>
        </p:nvCxnSpPr>
        <p:spPr>
          <a:xfrm>
            <a:off x="2791687" y="4251283"/>
            <a:ext cx="355735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DD36A9FF-B8EC-0988-FDE7-EE13A3509623}"/>
              </a:ext>
            </a:extLst>
          </p:cNvPr>
          <p:cNvSpPr/>
          <p:nvPr/>
        </p:nvSpPr>
        <p:spPr>
          <a:xfrm>
            <a:off x="39091" y="3985538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781FB60-8A98-08CB-EA0D-7C98068BACCB}"/>
              </a:ext>
            </a:extLst>
          </p:cNvPr>
          <p:cNvSpPr/>
          <p:nvPr/>
        </p:nvSpPr>
        <p:spPr>
          <a:xfrm>
            <a:off x="337562" y="3931504"/>
            <a:ext cx="381214" cy="31531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81A45E16-1872-B6FF-A355-E6451371ED82}"/>
              </a:ext>
            </a:extLst>
          </p:cNvPr>
          <p:cNvSpPr/>
          <p:nvPr/>
        </p:nvSpPr>
        <p:spPr>
          <a:xfrm>
            <a:off x="420305" y="4729645"/>
            <a:ext cx="1368238" cy="1044301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F35E765-0D2D-4D12-562C-707C998FA7BA}"/>
              </a:ext>
            </a:extLst>
          </p:cNvPr>
          <p:cNvSpPr/>
          <p:nvPr/>
        </p:nvSpPr>
        <p:spPr>
          <a:xfrm>
            <a:off x="58337" y="5145053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5825D45D-5925-5859-A7B0-D2D0A3BBA668}"/>
              </a:ext>
            </a:extLst>
          </p:cNvPr>
          <p:cNvSpPr/>
          <p:nvPr/>
        </p:nvSpPr>
        <p:spPr>
          <a:xfrm>
            <a:off x="4897414" y="5811515"/>
            <a:ext cx="1589649" cy="43976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B5CAB65-836C-6D9E-4CC9-DC8EEABE78C6}"/>
              </a:ext>
            </a:extLst>
          </p:cNvPr>
          <p:cNvSpPr/>
          <p:nvPr/>
        </p:nvSpPr>
        <p:spPr>
          <a:xfrm>
            <a:off x="4535447" y="5773946"/>
            <a:ext cx="416116" cy="3220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4</a:t>
            </a:r>
            <a:endParaRPr lang="zh-CN" altLang="en-US" sz="2400" b="1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81D0D343-C2FF-D037-BFD1-65F5E87AF244}"/>
              </a:ext>
            </a:extLst>
          </p:cNvPr>
          <p:cNvCxnSpPr>
            <a:cxnSpLocks/>
          </p:cNvCxnSpPr>
          <p:nvPr/>
        </p:nvCxnSpPr>
        <p:spPr>
          <a:xfrm>
            <a:off x="978092" y="1797206"/>
            <a:ext cx="228269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C9343438-F142-4D1C-5CFC-7309FDA0526E}"/>
              </a:ext>
            </a:extLst>
          </p:cNvPr>
          <p:cNvSpPr/>
          <p:nvPr/>
        </p:nvSpPr>
        <p:spPr>
          <a:xfrm>
            <a:off x="7303300" y="4945685"/>
            <a:ext cx="2530813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③国家制定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促进法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600C9BA-3549-2658-CB38-A735D55AF4F2}"/>
              </a:ext>
            </a:extLst>
          </p:cNvPr>
          <p:cNvSpPr/>
          <p:nvPr/>
        </p:nvSpPr>
        <p:spPr>
          <a:xfrm>
            <a:off x="7308155" y="5510164"/>
            <a:ext cx="1496539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④直播助力</a:t>
            </a:r>
          </a:p>
        </p:txBody>
      </p:sp>
    </p:spTree>
    <p:extLst>
      <p:ext uri="{BB962C8B-B14F-4D97-AF65-F5344CB8AC3E}">
        <p14:creationId xmlns:p14="http://schemas.microsoft.com/office/powerpoint/2010/main" val="4778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3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C4C11-16D3-0EA6-7612-23699DB8F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1E5423E7-51C8-2ED1-69D7-33FB8ABCE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8" y="0"/>
            <a:ext cx="7198501" cy="437803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B2E92057-D618-5071-2749-E02E35C2203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6" y="3901926"/>
            <a:ext cx="7113053" cy="295607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66296CB-3663-042D-BD07-B81E6EB0C58D}"/>
              </a:ext>
            </a:extLst>
          </p:cNvPr>
          <p:cNvSpPr txBox="1"/>
          <p:nvPr/>
        </p:nvSpPr>
        <p:spPr>
          <a:xfrm>
            <a:off x="7341778" y="235637"/>
            <a:ext cx="47215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lang="zh-CN" altLang="zh-CN" sz="2200" dirty="0">
                <a:latin typeface="楷体" panose="02010609060101010101" pitchFamily="49" charset="-122"/>
                <a:ea typeface="楷体" panose="02010609060101010101" pitchFamily="49" charset="-122"/>
              </a:rPr>
              <a:t>由此，同学们推测未来我国一定能够巩固和拓展脱贫攻坚成果。请结合上述材料，综合运用所 学内容，说明同学们提出推测的理由。（6分）</a:t>
            </a:r>
            <a:endParaRPr lang="zh-CN" altLang="en-US" sz="22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A6E56E7-E83B-3D71-F977-AE9579B14837}"/>
              </a:ext>
            </a:extLst>
          </p:cNvPr>
          <p:cNvSpPr/>
          <p:nvPr/>
        </p:nvSpPr>
        <p:spPr>
          <a:xfrm>
            <a:off x="7754005" y="1797206"/>
            <a:ext cx="3807837" cy="104376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思路（材→知）：经济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民生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①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过去：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我国取得的成就→基础</a:t>
            </a:r>
            <a:endParaRPr lang="en-US" altLang="zh-CN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②</a:t>
            </a:r>
            <a:r>
              <a:rPr lang="zh-CN" altLang="en-US" sz="2000" b="1" dirty="0">
                <a:solidFill>
                  <a:schemeClr val="tx1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现在：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党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国家的理念</a:t>
            </a:r>
            <a:r>
              <a:rPr lang="en-US" altLang="zh-CN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做法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B999E378-1DED-FDC3-18CE-76B616E1C472}"/>
              </a:ext>
            </a:extLst>
          </p:cNvPr>
          <p:cNvCxnSpPr>
            <a:cxnSpLocks/>
          </p:cNvCxnSpPr>
          <p:nvPr/>
        </p:nvCxnSpPr>
        <p:spPr>
          <a:xfrm>
            <a:off x="7462957" y="972905"/>
            <a:ext cx="364211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椭圆 9">
            <a:extLst>
              <a:ext uri="{FF2B5EF4-FFF2-40B4-BE49-F238E27FC236}">
                <a16:creationId xmlns:a16="http://schemas.microsoft.com/office/drawing/2014/main" id="{BD3507B3-FA6E-D8D2-C283-3BCC88C1636E}"/>
              </a:ext>
            </a:extLst>
          </p:cNvPr>
          <p:cNvSpPr/>
          <p:nvPr/>
        </p:nvSpPr>
        <p:spPr>
          <a:xfrm>
            <a:off x="9942683" y="235638"/>
            <a:ext cx="736819" cy="372082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A176568-1480-B3D0-6AA1-B0D6BEB63D8D}"/>
              </a:ext>
            </a:extLst>
          </p:cNvPr>
          <p:cNvCxnSpPr>
            <a:cxnSpLocks/>
          </p:cNvCxnSpPr>
          <p:nvPr/>
        </p:nvCxnSpPr>
        <p:spPr>
          <a:xfrm>
            <a:off x="10110158" y="607720"/>
            <a:ext cx="17856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椭圆 13">
            <a:extLst>
              <a:ext uri="{FF2B5EF4-FFF2-40B4-BE49-F238E27FC236}">
                <a16:creationId xmlns:a16="http://schemas.microsoft.com/office/drawing/2014/main" id="{0E29C895-D001-DB2A-2495-DB5842D859D5}"/>
              </a:ext>
            </a:extLst>
          </p:cNvPr>
          <p:cNvSpPr/>
          <p:nvPr/>
        </p:nvSpPr>
        <p:spPr>
          <a:xfrm>
            <a:off x="9334130" y="1260555"/>
            <a:ext cx="1552406" cy="37845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7F4F42-1377-9BE9-5E52-8EC85CA0EE91}"/>
              </a:ext>
            </a:extLst>
          </p:cNvPr>
          <p:cNvSpPr/>
          <p:nvPr/>
        </p:nvSpPr>
        <p:spPr>
          <a:xfrm>
            <a:off x="7279400" y="3747647"/>
            <a:ext cx="1609563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①经济提升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962CBDB-ECC0-EA50-46F9-7ED03F3D0B41}"/>
              </a:ext>
            </a:extLst>
          </p:cNvPr>
          <p:cNvSpPr/>
          <p:nvPr/>
        </p:nvSpPr>
        <p:spPr>
          <a:xfrm>
            <a:off x="630158" y="1524532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D422256-F271-4584-8BB4-11AB98602B1E}"/>
              </a:ext>
            </a:extLst>
          </p:cNvPr>
          <p:cNvSpPr/>
          <p:nvPr/>
        </p:nvSpPr>
        <p:spPr>
          <a:xfrm>
            <a:off x="7279400" y="3183394"/>
            <a:ext cx="1280879" cy="374241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推测理由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9B881C9-4D19-7AE0-1FA0-A16A38F2C444}"/>
              </a:ext>
            </a:extLst>
          </p:cNvPr>
          <p:cNvSpPr/>
          <p:nvPr/>
        </p:nvSpPr>
        <p:spPr>
          <a:xfrm>
            <a:off x="7303300" y="4312126"/>
            <a:ext cx="3008142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②党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农业强国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乡村振兴</a:t>
            </a:r>
          </a:p>
        </p:txBody>
      </p: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DFEF5022-341A-33CA-E216-0D51ED40BA0F}"/>
              </a:ext>
            </a:extLst>
          </p:cNvPr>
          <p:cNvCxnSpPr>
            <a:cxnSpLocks/>
          </p:cNvCxnSpPr>
          <p:nvPr/>
        </p:nvCxnSpPr>
        <p:spPr>
          <a:xfrm>
            <a:off x="2791687" y="4251283"/>
            <a:ext cx="355735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3C4A7500-4567-FB34-2E4B-5313ED8D2FF4}"/>
              </a:ext>
            </a:extLst>
          </p:cNvPr>
          <p:cNvSpPr/>
          <p:nvPr/>
        </p:nvSpPr>
        <p:spPr>
          <a:xfrm>
            <a:off x="39091" y="3985538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2BDA775-0F0F-D04E-7C2C-E3DA3D20EDD2}"/>
              </a:ext>
            </a:extLst>
          </p:cNvPr>
          <p:cNvSpPr/>
          <p:nvPr/>
        </p:nvSpPr>
        <p:spPr>
          <a:xfrm>
            <a:off x="337562" y="3931504"/>
            <a:ext cx="381214" cy="31531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9BFC5231-B2E5-FB5F-5B6F-843F05BB8422}"/>
              </a:ext>
            </a:extLst>
          </p:cNvPr>
          <p:cNvSpPr/>
          <p:nvPr/>
        </p:nvSpPr>
        <p:spPr>
          <a:xfrm>
            <a:off x="420305" y="4729645"/>
            <a:ext cx="1368238" cy="1044301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89A9D0B-3671-1D3B-9CB6-C0DFD8CDE3AB}"/>
              </a:ext>
            </a:extLst>
          </p:cNvPr>
          <p:cNvSpPr/>
          <p:nvPr/>
        </p:nvSpPr>
        <p:spPr>
          <a:xfrm>
            <a:off x="58337" y="5145053"/>
            <a:ext cx="381214" cy="31531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BAAD4F8-0C19-C4E5-24A3-7F17F9D8E339}"/>
              </a:ext>
            </a:extLst>
          </p:cNvPr>
          <p:cNvSpPr/>
          <p:nvPr/>
        </p:nvSpPr>
        <p:spPr>
          <a:xfrm>
            <a:off x="4897414" y="5811515"/>
            <a:ext cx="1589649" cy="439760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966BDF1-C153-9FE5-A038-DE974816A382}"/>
              </a:ext>
            </a:extLst>
          </p:cNvPr>
          <p:cNvSpPr/>
          <p:nvPr/>
        </p:nvSpPr>
        <p:spPr>
          <a:xfrm>
            <a:off x="4535447" y="5773946"/>
            <a:ext cx="416116" cy="32205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4</a:t>
            </a:r>
            <a:endParaRPr lang="zh-CN" altLang="en-US" sz="2400" b="1" dirty="0"/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DA709354-4F62-84D5-DE44-49883B19FD33}"/>
              </a:ext>
            </a:extLst>
          </p:cNvPr>
          <p:cNvCxnSpPr>
            <a:cxnSpLocks/>
          </p:cNvCxnSpPr>
          <p:nvPr/>
        </p:nvCxnSpPr>
        <p:spPr>
          <a:xfrm>
            <a:off x="978092" y="1797206"/>
            <a:ext cx="228269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矩形 30">
            <a:extLst>
              <a:ext uri="{FF2B5EF4-FFF2-40B4-BE49-F238E27FC236}">
                <a16:creationId xmlns:a16="http://schemas.microsoft.com/office/drawing/2014/main" id="{FDF68985-D457-42BD-F324-D8B1D14F1929}"/>
              </a:ext>
            </a:extLst>
          </p:cNvPr>
          <p:cNvSpPr/>
          <p:nvPr/>
        </p:nvSpPr>
        <p:spPr>
          <a:xfrm>
            <a:off x="7327199" y="5438867"/>
            <a:ext cx="2530813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③国家制定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促进法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30680AA-8A75-7D6F-827E-2AFD223B3446}"/>
              </a:ext>
            </a:extLst>
          </p:cNvPr>
          <p:cNvSpPr/>
          <p:nvPr/>
        </p:nvSpPr>
        <p:spPr>
          <a:xfrm>
            <a:off x="7341778" y="6187715"/>
            <a:ext cx="1496539" cy="440376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④直播助力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5CE5738-D56C-8BEF-74F0-B5BED4E08393}"/>
              </a:ext>
            </a:extLst>
          </p:cNvPr>
          <p:cNvSpPr/>
          <p:nvPr/>
        </p:nvSpPr>
        <p:spPr>
          <a:xfrm>
            <a:off x="9666514" y="3737658"/>
            <a:ext cx="2486395" cy="400801"/>
          </a:xfrm>
          <a:prstGeom prst="rect">
            <a:avLst/>
          </a:prstGeom>
          <a:solidFill>
            <a:srgbClr val="0070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提供经济基础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D028D8B-7CF3-DB0D-54D6-501673C6189B}"/>
              </a:ext>
            </a:extLst>
          </p:cNvPr>
          <p:cNvSpPr/>
          <p:nvPr/>
        </p:nvSpPr>
        <p:spPr>
          <a:xfrm>
            <a:off x="9968661" y="4188023"/>
            <a:ext cx="2223340" cy="1177168"/>
          </a:xfrm>
          <a:prstGeom prst="rect">
            <a:avLst/>
          </a:prstGeom>
          <a:solidFill>
            <a:srgbClr val="0070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A.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党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领导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以人民为中心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B.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乡村振兴战略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49</a:t>
            </a:r>
          </a:p>
          <a:p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→缩小差距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FFFD0BA-320F-BC40-7D19-394C6AC5AA4C}"/>
              </a:ext>
            </a:extLst>
          </p:cNvPr>
          <p:cNvSpPr/>
          <p:nvPr/>
        </p:nvSpPr>
        <p:spPr>
          <a:xfrm>
            <a:off x="9968661" y="5433489"/>
            <a:ext cx="2223339" cy="641620"/>
          </a:xfrm>
          <a:prstGeom prst="rect">
            <a:avLst/>
          </a:prstGeom>
          <a:solidFill>
            <a:srgbClr val="0070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→科学立法，为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…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提供法治保障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04E829-6BA8-0F32-8FBD-9B3505DB1E6A}"/>
              </a:ext>
            </a:extLst>
          </p:cNvPr>
          <p:cNvSpPr/>
          <p:nvPr/>
        </p:nvSpPr>
        <p:spPr>
          <a:xfrm>
            <a:off x="9604075" y="6143407"/>
            <a:ext cx="2591307" cy="641620"/>
          </a:xfrm>
          <a:prstGeom prst="rect">
            <a:avLst/>
          </a:prstGeom>
          <a:solidFill>
            <a:srgbClr val="0070C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→网络推动生产方式变革八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18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→改善民生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ABF6E7E5-2CED-E78C-5BAF-4974EBC3C3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25" y="4301606"/>
            <a:ext cx="5613454" cy="2253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8031C4FA-1F2E-0E25-4D6E-AC22CFD2FC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516" y="319802"/>
            <a:ext cx="10921833" cy="11689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6CAFA8E-2AF0-F76F-EA75-E553DE76C52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6" y="1766136"/>
            <a:ext cx="6113873" cy="22910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189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  <p:bldP spid="15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E47ABC8A-06DA-325F-8BCC-18551319D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68" y="397634"/>
            <a:ext cx="11065786" cy="189699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BAC04BF-EAFB-9E50-F5FC-C387115ED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9473" y="3248761"/>
            <a:ext cx="8204165" cy="2629228"/>
          </a:xfrm>
          <a:prstGeom prst="rect">
            <a:avLst/>
          </a:prstGeom>
        </p:spPr>
      </p:pic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F694E52-97F8-B792-D99B-DD4426566470}"/>
              </a:ext>
            </a:extLst>
          </p:cNvPr>
          <p:cNvCxnSpPr>
            <a:cxnSpLocks/>
          </p:cNvCxnSpPr>
          <p:nvPr/>
        </p:nvCxnSpPr>
        <p:spPr>
          <a:xfrm>
            <a:off x="2351442" y="3856653"/>
            <a:ext cx="324070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椭圆 7">
            <a:extLst>
              <a:ext uri="{FF2B5EF4-FFF2-40B4-BE49-F238E27FC236}">
                <a16:creationId xmlns:a16="http://schemas.microsoft.com/office/drawing/2014/main" id="{46790EC5-4990-C51C-F856-183340A9B5BF}"/>
              </a:ext>
            </a:extLst>
          </p:cNvPr>
          <p:cNvSpPr/>
          <p:nvPr/>
        </p:nvSpPr>
        <p:spPr>
          <a:xfrm>
            <a:off x="4227857" y="3428999"/>
            <a:ext cx="841776" cy="427647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5E5DEF8-D583-BB1A-0272-61CECCDA8E55}"/>
              </a:ext>
            </a:extLst>
          </p:cNvPr>
          <p:cNvCxnSpPr>
            <a:cxnSpLocks/>
          </p:cNvCxnSpPr>
          <p:nvPr/>
        </p:nvCxnSpPr>
        <p:spPr>
          <a:xfrm>
            <a:off x="5956169" y="1744824"/>
            <a:ext cx="53276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DC354FCA-3A41-FDE5-CA91-495D884939E2}"/>
              </a:ext>
            </a:extLst>
          </p:cNvPr>
          <p:cNvCxnSpPr>
            <a:cxnSpLocks/>
          </p:cNvCxnSpPr>
          <p:nvPr/>
        </p:nvCxnSpPr>
        <p:spPr>
          <a:xfrm>
            <a:off x="510202" y="2189584"/>
            <a:ext cx="67789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3B377164-E0D2-77A1-44FA-CBF537609950}"/>
              </a:ext>
            </a:extLst>
          </p:cNvPr>
          <p:cNvSpPr/>
          <p:nvPr/>
        </p:nvSpPr>
        <p:spPr>
          <a:xfrm>
            <a:off x="6370854" y="2753703"/>
            <a:ext cx="3132657" cy="1676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28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ACD</a:t>
            </a:r>
            <a:endParaRPr lang="zh-CN" altLang="en-US" sz="2800" dirty="0">
              <a:solidFill>
                <a:srgbClr val="FF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60595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b="43737"/>
          <a:stretch>
            <a:fillRect/>
          </a:stretch>
        </p:blipFill>
        <p:spPr>
          <a:xfrm>
            <a:off x="263167" y="121263"/>
            <a:ext cx="9504544" cy="5424055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263167" y="5285105"/>
            <a:ext cx="2394918" cy="1318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明任务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判主体</a:t>
            </a:r>
            <a:endParaRPr lang="en-US" altLang="zh-CN" sz="2400" b="1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构思路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/>
          <p:cNvCxnSpPr>
            <a:cxnSpLocks/>
          </p:cNvCxnSpPr>
          <p:nvPr/>
        </p:nvCxnSpPr>
        <p:spPr>
          <a:xfrm>
            <a:off x="3701110" y="3924979"/>
            <a:ext cx="1101185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椭圆 5"/>
          <p:cNvSpPr/>
          <p:nvPr/>
        </p:nvSpPr>
        <p:spPr>
          <a:xfrm>
            <a:off x="666750" y="4319270"/>
            <a:ext cx="1347470" cy="34480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2658110" y="4320540"/>
            <a:ext cx="2033905" cy="398145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>
            <a:cxnSpLocks/>
          </p:cNvCxnSpPr>
          <p:nvPr/>
        </p:nvCxnSpPr>
        <p:spPr>
          <a:xfrm flipV="1">
            <a:off x="447923" y="4289592"/>
            <a:ext cx="525779" cy="17159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箭头: 右 12"/>
          <p:cNvSpPr/>
          <p:nvPr/>
        </p:nvSpPr>
        <p:spPr>
          <a:xfrm>
            <a:off x="2434279" y="5668010"/>
            <a:ext cx="641230" cy="55209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0" y="3425190"/>
            <a:ext cx="7620" cy="76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2190" y="3425190"/>
            <a:ext cx="7620" cy="762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938C4538-6EAC-F83B-FEEB-F5F5B7744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997" y="5098631"/>
            <a:ext cx="8947695" cy="15593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3FA60E5F-4302-22E0-6127-C82448A9F4E0}"/>
              </a:ext>
            </a:extLst>
          </p:cNvPr>
          <p:cNvSpPr/>
          <p:nvPr/>
        </p:nvSpPr>
        <p:spPr>
          <a:xfrm>
            <a:off x="4311529" y="276138"/>
            <a:ext cx="1589779" cy="3501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判断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不对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46186714-B5D8-E545-2FE5-E29824956202}"/>
              </a:ext>
            </a:extLst>
          </p:cNvPr>
          <p:cNvSpPr/>
          <p:nvPr/>
        </p:nvSpPr>
        <p:spPr>
          <a:xfrm>
            <a:off x="1999201" y="3964689"/>
            <a:ext cx="710533" cy="3229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1AB1BD62-C42B-9106-39CB-636CDE65B82C}"/>
              </a:ext>
            </a:extLst>
          </p:cNvPr>
          <p:cNvSpPr/>
          <p:nvPr/>
        </p:nvSpPr>
        <p:spPr>
          <a:xfrm>
            <a:off x="263168" y="3949172"/>
            <a:ext cx="710534" cy="3150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F0C23178-D9C0-0193-F2D2-007E9D70908C}"/>
              </a:ext>
            </a:extLst>
          </p:cNvPr>
          <p:cNvSpPr/>
          <p:nvPr/>
        </p:nvSpPr>
        <p:spPr>
          <a:xfrm>
            <a:off x="1794841" y="3574214"/>
            <a:ext cx="1153632" cy="34448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296EF4F5-B281-8EF4-5224-51409089A798}"/>
              </a:ext>
            </a:extLst>
          </p:cNvPr>
          <p:cNvSpPr/>
          <p:nvPr/>
        </p:nvSpPr>
        <p:spPr>
          <a:xfrm>
            <a:off x="3701110" y="3574214"/>
            <a:ext cx="710534" cy="31506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D175BB0-B6F5-3073-3419-58BA803303CE}"/>
              </a:ext>
            </a:extLst>
          </p:cNvPr>
          <p:cNvSpPr/>
          <p:nvPr/>
        </p:nvSpPr>
        <p:spPr>
          <a:xfrm>
            <a:off x="4311529" y="806108"/>
            <a:ext cx="1979163" cy="35017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理由（学习）</a:t>
            </a:r>
            <a:endParaRPr lang="en-US" altLang="zh-CN" sz="2000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492B03-7BF0-FDEC-4753-ADC44ADF326D}"/>
              </a:ext>
            </a:extLst>
          </p:cNvPr>
          <p:cNvSpPr/>
          <p:nvPr/>
        </p:nvSpPr>
        <p:spPr>
          <a:xfrm>
            <a:off x="4490803" y="1671587"/>
            <a:ext cx="2270594" cy="453017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3.</a:t>
            </a:r>
            <a:r>
              <a:rPr lang="zh-CN" altLang="en-US" sz="2000" b="1" dirty="0"/>
              <a:t>理由（建党精神）</a:t>
            </a:r>
            <a:endParaRPr lang="en-US" altLang="zh-CN" sz="20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6CFACFF-7D34-34EB-40FB-E7792AACA7EE}"/>
              </a:ext>
            </a:extLst>
          </p:cNvPr>
          <p:cNvSpPr/>
          <p:nvPr/>
        </p:nvSpPr>
        <p:spPr>
          <a:xfrm>
            <a:off x="4609463" y="2595452"/>
            <a:ext cx="2247734" cy="36120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4.</a:t>
            </a:r>
            <a:r>
              <a:rPr lang="zh-CN" altLang="en-US" sz="2000" b="1" dirty="0"/>
              <a:t>回应＋价值驱动</a:t>
            </a:r>
            <a:endParaRPr lang="en-US" altLang="zh-CN" sz="2000" b="1" dirty="0"/>
          </a:p>
        </p:txBody>
      </p:sp>
    </p:spTree>
    <p:extLst>
      <p:ext uri="{BB962C8B-B14F-4D97-AF65-F5344CB8AC3E}">
        <p14:creationId xmlns:p14="http://schemas.microsoft.com/office/powerpoint/2010/main" val="3917360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27" grpId="0" animBg="1"/>
      <p:bldP spid="29" grpId="0" animBg="1"/>
      <p:bldP spid="29" grpId="1" animBg="1"/>
      <p:bldP spid="31" grpId="0" animBg="1"/>
      <p:bldP spid="31" grpId="1" animBg="1"/>
      <p:bldP spid="32" grpId="0" animBg="1"/>
      <p:bldP spid="32" grpId="1" animBg="1"/>
      <p:bldP spid="33" grpId="0" animBg="1"/>
      <p:bldP spid="33" grpId="1" animBg="1"/>
      <p:bldP spid="2" grpId="0" animBg="1"/>
      <p:bldP spid="4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C2C8C0-9C7A-EFC3-A29F-542B7B605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E98A35E-D2EB-0A9E-7016-369F2438CA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737"/>
          <a:stretch>
            <a:fillRect/>
          </a:stretch>
        </p:blipFill>
        <p:spPr>
          <a:xfrm>
            <a:off x="332988" y="133349"/>
            <a:ext cx="9504544" cy="542405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090C6F94-F16B-5094-C7BF-F9AC4CB8EA54}"/>
              </a:ext>
            </a:extLst>
          </p:cNvPr>
          <p:cNvSpPr/>
          <p:nvPr/>
        </p:nvSpPr>
        <p:spPr>
          <a:xfrm>
            <a:off x="263167" y="5285105"/>
            <a:ext cx="2394918" cy="131840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明任务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判主体</a:t>
            </a:r>
            <a:endParaRPr lang="en-US" altLang="zh-CN" sz="2400" b="1" dirty="0"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构思路</a:t>
            </a:r>
            <a:endParaRPr lang="zh-CN" altLang="en-US" sz="20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1AAD2C5C-475A-026E-6D50-76702E5F5750}"/>
              </a:ext>
            </a:extLst>
          </p:cNvPr>
          <p:cNvCxnSpPr>
            <a:cxnSpLocks/>
          </p:cNvCxnSpPr>
          <p:nvPr/>
        </p:nvCxnSpPr>
        <p:spPr>
          <a:xfrm flipV="1">
            <a:off x="1048383" y="3913583"/>
            <a:ext cx="3561080" cy="698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4C0441AB-F0E5-8FC0-9B84-251271D133DE}"/>
              </a:ext>
            </a:extLst>
          </p:cNvPr>
          <p:cNvSpPr/>
          <p:nvPr/>
        </p:nvSpPr>
        <p:spPr>
          <a:xfrm>
            <a:off x="666750" y="4319270"/>
            <a:ext cx="1347470" cy="344805"/>
          </a:xfrm>
          <a:prstGeom prst="ellipse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8DE3A809-EA01-F403-EF21-9C90239C5084}"/>
              </a:ext>
            </a:extLst>
          </p:cNvPr>
          <p:cNvSpPr/>
          <p:nvPr/>
        </p:nvSpPr>
        <p:spPr>
          <a:xfrm>
            <a:off x="2658110" y="4320540"/>
            <a:ext cx="2033905" cy="398145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0298C53-F5E3-32B0-10B5-C2FE6F90AAA7}"/>
              </a:ext>
            </a:extLst>
          </p:cNvPr>
          <p:cNvCxnSpPr/>
          <p:nvPr/>
        </p:nvCxnSpPr>
        <p:spPr>
          <a:xfrm flipV="1">
            <a:off x="994408" y="5112463"/>
            <a:ext cx="1101725" cy="190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E3FEC0B-8C27-2538-75B0-1C33B0ADD5AA}"/>
              </a:ext>
            </a:extLst>
          </p:cNvPr>
          <p:cNvCxnSpPr>
            <a:cxnSpLocks/>
          </p:cNvCxnSpPr>
          <p:nvPr/>
        </p:nvCxnSpPr>
        <p:spPr>
          <a:xfrm flipV="1">
            <a:off x="332988" y="4251403"/>
            <a:ext cx="2381000" cy="20793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箭头: 右 12">
            <a:extLst>
              <a:ext uri="{FF2B5EF4-FFF2-40B4-BE49-F238E27FC236}">
                <a16:creationId xmlns:a16="http://schemas.microsoft.com/office/drawing/2014/main" id="{1C8126F7-E319-D7D4-3A03-6922A9438FDC}"/>
              </a:ext>
            </a:extLst>
          </p:cNvPr>
          <p:cNvSpPr/>
          <p:nvPr/>
        </p:nvSpPr>
        <p:spPr>
          <a:xfrm>
            <a:off x="2434279" y="5668010"/>
            <a:ext cx="641230" cy="552090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8FE6712-93EC-4566-9F57-2567CAFAD5A4}"/>
              </a:ext>
            </a:extLst>
          </p:cNvPr>
          <p:cNvSpPr/>
          <p:nvPr/>
        </p:nvSpPr>
        <p:spPr>
          <a:xfrm>
            <a:off x="3019105" y="5885699"/>
            <a:ext cx="2395220" cy="762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定知识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角度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类型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248A224-9756-EB00-CAED-BFADCB9E013F}"/>
              </a:ext>
            </a:extLst>
          </p:cNvPr>
          <p:cNvSpPr/>
          <p:nvPr/>
        </p:nvSpPr>
        <p:spPr>
          <a:xfrm>
            <a:off x="2824986" y="5110170"/>
            <a:ext cx="2766203" cy="83388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找材料</a:t>
            </a:r>
            <a:endParaRPr lang="en-US" altLang="zh-CN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algn="ctr"/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主体</a:t>
            </a:r>
            <a:r>
              <a:rPr lang="en-US" altLang="zh-CN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关键信息</a:t>
            </a:r>
          </a:p>
          <a:p>
            <a:pPr algn="ctr"/>
            <a:endParaRPr lang="zh-CN" altLang="en-US" sz="4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5ED0EBC-2B70-5013-E146-928F74F13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692" y="110783"/>
            <a:ext cx="5898619" cy="1866429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D672990-8383-331B-A4D0-6F594F8E4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3425190"/>
            <a:ext cx="7620" cy="762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5353A2F-B150-B6F0-B705-4B682486F0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3425190"/>
            <a:ext cx="7620" cy="762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BED1EAE-1EF0-2ECA-EFEE-E8DAD45086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78" y="2113992"/>
            <a:ext cx="5623933" cy="1593657"/>
          </a:xfrm>
          <a:prstGeom prst="rect">
            <a:avLst/>
          </a:prstGeom>
          <a:ln w="57150">
            <a:solidFill>
              <a:srgbClr val="7030A0"/>
            </a:solidFill>
          </a:ln>
        </p:spPr>
      </p:pic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A2F6807F-C4F9-2099-2EE7-7030CFBFDDDA}"/>
              </a:ext>
            </a:extLst>
          </p:cNvPr>
          <p:cNvCxnSpPr/>
          <p:nvPr/>
        </p:nvCxnSpPr>
        <p:spPr>
          <a:xfrm flipV="1">
            <a:off x="912493" y="1307543"/>
            <a:ext cx="2009775" cy="2667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171406DF-84E4-140A-9009-6B3B90FF96DE}"/>
              </a:ext>
            </a:extLst>
          </p:cNvPr>
          <p:cNvCxnSpPr/>
          <p:nvPr/>
        </p:nvCxnSpPr>
        <p:spPr>
          <a:xfrm flipV="1">
            <a:off x="2014218" y="1656793"/>
            <a:ext cx="2009775" cy="26670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7AA26CEE-896E-7F26-C166-2A1D1E44B6D0}"/>
              </a:ext>
            </a:extLst>
          </p:cNvPr>
          <p:cNvCxnSpPr/>
          <p:nvPr/>
        </p:nvCxnSpPr>
        <p:spPr>
          <a:xfrm flipV="1">
            <a:off x="455928" y="2043508"/>
            <a:ext cx="4153535" cy="70485"/>
          </a:xfrm>
          <a:prstGeom prst="line">
            <a:avLst/>
          </a:prstGeom>
          <a:ln w="3810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8A1F0C3D-75E5-D4F7-3AA1-30BA6C42261D}"/>
              </a:ext>
            </a:extLst>
          </p:cNvPr>
          <p:cNvCxnSpPr/>
          <p:nvPr/>
        </p:nvCxnSpPr>
        <p:spPr>
          <a:xfrm flipV="1">
            <a:off x="455928" y="2376883"/>
            <a:ext cx="4243705" cy="5651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图片 21">
            <a:extLst>
              <a:ext uri="{FF2B5EF4-FFF2-40B4-BE49-F238E27FC236}">
                <a16:creationId xmlns:a16="http://schemas.microsoft.com/office/drawing/2014/main" id="{645EA75D-B67C-B7DD-BA63-42053EA4EE9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9016" b="17742"/>
          <a:stretch>
            <a:fillRect/>
          </a:stretch>
        </p:blipFill>
        <p:spPr>
          <a:xfrm>
            <a:off x="5679518" y="5133279"/>
            <a:ext cx="1645902" cy="1552085"/>
          </a:xfrm>
          <a:prstGeom prst="rect">
            <a:avLst/>
          </a:prstGeom>
        </p:spPr>
      </p:pic>
      <p:sp>
        <p:nvSpPr>
          <p:cNvPr id="23" name="右大括号 22">
            <a:extLst>
              <a:ext uri="{FF2B5EF4-FFF2-40B4-BE49-F238E27FC236}">
                <a16:creationId xmlns:a16="http://schemas.microsoft.com/office/drawing/2014/main" id="{D58E8DAB-7884-9BEF-453B-5BD714281F2E}"/>
              </a:ext>
            </a:extLst>
          </p:cNvPr>
          <p:cNvSpPr/>
          <p:nvPr/>
        </p:nvSpPr>
        <p:spPr>
          <a:xfrm>
            <a:off x="5151856" y="4929541"/>
            <a:ext cx="317741" cy="1848929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7AE5215-FDBD-80BD-0F94-9C70676A3AA1}"/>
              </a:ext>
            </a:extLst>
          </p:cNvPr>
          <p:cNvSpPr/>
          <p:nvPr/>
        </p:nvSpPr>
        <p:spPr>
          <a:xfrm>
            <a:off x="4311529" y="806108"/>
            <a:ext cx="2661549" cy="66873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2.</a:t>
            </a:r>
            <a:r>
              <a:rPr lang="zh-CN" altLang="en-US" sz="2000" b="1" dirty="0"/>
              <a:t>理由（学习六）</a:t>
            </a:r>
            <a:endParaRPr lang="en-US" altLang="zh-CN" sz="2000" b="1" dirty="0"/>
          </a:p>
          <a:p>
            <a:r>
              <a:rPr lang="zh-CN" altLang="en-US" b="1" dirty="0"/>
              <a:t>①不局限②作用六</a:t>
            </a:r>
            <a:r>
              <a:rPr lang="en-US" altLang="zh-CN" b="1" dirty="0"/>
              <a:t>17-18</a:t>
            </a:r>
            <a:endParaRPr lang="zh-CN" altLang="en-US" b="1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CAD99A-DE36-EC83-2184-797E38796A18}"/>
              </a:ext>
            </a:extLst>
          </p:cNvPr>
          <p:cNvSpPr/>
          <p:nvPr/>
        </p:nvSpPr>
        <p:spPr>
          <a:xfrm>
            <a:off x="4490802" y="1671586"/>
            <a:ext cx="2588021" cy="593029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3.</a:t>
            </a:r>
            <a:r>
              <a:rPr lang="zh-CN" altLang="en-US" sz="2000" b="1" dirty="0"/>
              <a:t>理由（建党精神九）</a:t>
            </a:r>
            <a:endParaRPr lang="en-US" altLang="zh-CN" sz="2000" b="1" dirty="0"/>
          </a:p>
          <a:p>
            <a:r>
              <a:rPr lang="zh-CN" altLang="en-US" b="1" dirty="0"/>
              <a:t>①内涵</a:t>
            </a:r>
            <a:r>
              <a:rPr lang="en-US" altLang="zh-CN" b="1" dirty="0"/>
              <a:t>7</a:t>
            </a:r>
            <a:r>
              <a:rPr lang="zh-CN" altLang="en-US" b="1" dirty="0"/>
              <a:t>②精神动力</a:t>
            </a:r>
            <a:r>
              <a:rPr lang="en-US" altLang="zh-CN" b="1" dirty="0"/>
              <a:t>10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5F3A037-8C47-525E-6143-4F55407110F6}"/>
              </a:ext>
            </a:extLst>
          </p:cNvPr>
          <p:cNvSpPr/>
          <p:nvPr/>
        </p:nvSpPr>
        <p:spPr>
          <a:xfrm>
            <a:off x="4311529" y="276138"/>
            <a:ext cx="1589779" cy="350169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1.</a:t>
            </a:r>
            <a:r>
              <a:rPr lang="zh-CN" altLang="en-US" sz="2000" b="1" dirty="0"/>
              <a:t>判断</a:t>
            </a:r>
            <a:r>
              <a:rPr lang="en-US" altLang="zh-CN" sz="2000" b="1" dirty="0"/>
              <a:t>/</a:t>
            </a:r>
            <a:r>
              <a:rPr lang="zh-CN" altLang="en-US" sz="2000" b="1" dirty="0"/>
              <a:t>不对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2786820-E778-E10D-E418-F6BAFA5D8B8E}"/>
              </a:ext>
            </a:extLst>
          </p:cNvPr>
          <p:cNvSpPr/>
          <p:nvPr/>
        </p:nvSpPr>
        <p:spPr>
          <a:xfrm>
            <a:off x="4609463" y="2595451"/>
            <a:ext cx="2718178" cy="88637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4.</a:t>
            </a:r>
            <a:r>
              <a:rPr lang="zh-CN" altLang="en-US" sz="2000" b="1" dirty="0"/>
              <a:t>回应＋价值驱动</a:t>
            </a:r>
            <a:endParaRPr lang="en-US" altLang="zh-CN" sz="2000" b="1" dirty="0"/>
          </a:p>
          <a:p>
            <a:r>
              <a:rPr lang="zh-CN" altLang="en-US" b="1" dirty="0"/>
              <a:t>①积极参加（学习）</a:t>
            </a:r>
            <a:endParaRPr lang="en-US" altLang="zh-CN" b="1" dirty="0"/>
          </a:p>
          <a:p>
            <a:r>
              <a:rPr lang="zh-CN" altLang="en-US" b="1" dirty="0"/>
              <a:t>②弘扬精神</a:t>
            </a:r>
            <a:endParaRPr lang="en-US" altLang="zh-CN" b="1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AE7A95-1995-3801-1FCB-033E7FC3527C}"/>
              </a:ext>
            </a:extLst>
          </p:cNvPr>
          <p:cNvSpPr/>
          <p:nvPr/>
        </p:nvSpPr>
        <p:spPr>
          <a:xfrm>
            <a:off x="539357" y="967620"/>
            <a:ext cx="338226" cy="340558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2</a:t>
            </a:r>
            <a:endParaRPr lang="zh-CN" altLang="en-US" sz="2000" b="1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E158AC7-0F41-EFFE-C1C1-1CDB54AC2BC0}"/>
              </a:ext>
            </a:extLst>
          </p:cNvPr>
          <p:cNvSpPr/>
          <p:nvPr/>
        </p:nvSpPr>
        <p:spPr>
          <a:xfrm>
            <a:off x="1680418" y="1363920"/>
            <a:ext cx="338226" cy="340558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000" b="1" dirty="0"/>
              <a:t>3</a:t>
            </a:r>
            <a:endParaRPr lang="zh-CN" altLang="en-US" sz="2000" b="1" dirty="0"/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DD3DE7BD-F999-6D96-1D71-89472D8D87AF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0388"/>
          <a:stretch>
            <a:fillRect/>
          </a:stretch>
        </p:blipFill>
        <p:spPr>
          <a:xfrm>
            <a:off x="7449420" y="4888939"/>
            <a:ext cx="2448908" cy="1930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9825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1" grpId="0" animBg="1"/>
      <p:bldP spid="11" grpId="1"/>
      <p:bldP spid="12" grpId="0" animBg="1"/>
      <p:bldP spid="12" grpId="1"/>
      <p:bldP spid="4" grpId="0" animBg="1"/>
      <p:bldP spid="2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8018EC43-E0E0-6EDA-1B87-59FAC06C0B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690" y="239485"/>
            <a:ext cx="10095850" cy="47684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123C911-DE33-D215-60E3-F6FB3C58C6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85" y="5153327"/>
            <a:ext cx="5709589" cy="13514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6FB70B81-9F49-F926-B7A4-F75A943177DB}"/>
              </a:ext>
            </a:extLst>
          </p:cNvPr>
          <p:cNvCxnSpPr/>
          <p:nvPr/>
        </p:nvCxnSpPr>
        <p:spPr>
          <a:xfrm>
            <a:off x="2749548" y="4080588"/>
            <a:ext cx="23015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椭圆 8">
            <a:extLst>
              <a:ext uri="{FF2B5EF4-FFF2-40B4-BE49-F238E27FC236}">
                <a16:creationId xmlns:a16="http://schemas.microsoft.com/office/drawing/2014/main" id="{2A8A6BC4-6001-6375-E69C-A6FD1514E5C0}"/>
              </a:ext>
            </a:extLst>
          </p:cNvPr>
          <p:cNvSpPr/>
          <p:nvPr/>
        </p:nvSpPr>
        <p:spPr>
          <a:xfrm>
            <a:off x="6811474" y="3719804"/>
            <a:ext cx="1592425" cy="410547"/>
          </a:xfrm>
          <a:prstGeom prst="ellipse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1A949D26-4CF9-25B4-6A12-C1FC2643C453}"/>
              </a:ext>
            </a:extLst>
          </p:cNvPr>
          <p:cNvSpPr/>
          <p:nvPr/>
        </p:nvSpPr>
        <p:spPr>
          <a:xfrm>
            <a:off x="8805115" y="3719803"/>
            <a:ext cx="1592425" cy="410547"/>
          </a:xfrm>
          <a:prstGeom prst="ellipse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7BD6896E-4EAC-83E0-D401-12F1FEAA318D}"/>
              </a:ext>
            </a:extLst>
          </p:cNvPr>
          <p:cNvCxnSpPr>
            <a:cxnSpLocks/>
          </p:cNvCxnSpPr>
          <p:nvPr/>
        </p:nvCxnSpPr>
        <p:spPr>
          <a:xfrm>
            <a:off x="6649743" y="1912775"/>
            <a:ext cx="221135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4302A029-EEE4-5C09-8A4A-BCE378ECA27A}"/>
              </a:ext>
            </a:extLst>
          </p:cNvPr>
          <p:cNvCxnSpPr>
            <a:cxnSpLocks/>
          </p:cNvCxnSpPr>
          <p:nvPr/>
        </p:nvCxnSpPr>
        <p:spPr>
          <a:xfrm flipV="1">
            <a:off x="5819319" y="2328977"/>
            <a:ext cx="1844351" cy="3477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DC085DCB-6ED6-7445-D5EB-237751078A3F}"/>
              </a:ext>
            </a:extLst>
          </p:cNvPr>
          <p:cNvCxnSpPr>
            <a:cxnSpLocks/>
          </p:cNvCxnSpPr>
          <p:nvPr/>
        </p:nvCxnSpPr>
        <p:spPr>
          <a:xfrm>
            <a:off x="2888324" y="2758752"/>
            <a:ext cx="143498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C936FC3-12DF-79C9-CA3F-552FAF58F31D}"/>
              </a:ext>
            </a:extLst>
          </p:cNvPr>
          <p:cNvCxnSpPr/>
          <p:nvPr/>
        </p:nvCxnSpPr>
        <p:spPr>
          <a:xfrm>
            <a:off x="6730609" y="2338874"/>
            <a:ext cx="796212" cy="1380929"/>
          </a:xfrm>
          <a:prstGeom prst="straightConnector1">
            <a:avLst/>
          </a:prstGeom>
          <a:ln w="57150"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EB9CC4AF-096F-41A3-F23C-94DE2A521A6C}"/>
              </a:ext>
            </a:extLst>
          </p:cNvPr>
          <p:cNvCxnSpPr>
            <a:cxnSpLocks/>
          </p:cNvCxnSpPr>
          <p:nvPr/>
        </p:nvCxnSpPr>
        <p:spPr>
          <a:xfrm>
            <a:off x="7767862" y="1912775"/>
            <a:ext cx="1833465" cy="1807028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816361C8-5FEF-DF28-6885-36DD6299D6EF}"/>
              </a:ext>
            </a:extLst>
          </p:cNvPr>
          <p:cNvSpPr/>
          <p:nvPr/>
        </p:nvSpPr>
        <p:spPr>
          <a:xfrm>
            <a:off x="3917755" y="2895893"/>
            <a:ext cx="4784144" cy="410541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竞争并不必然伤害友谊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欣赏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反思 六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47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C21063E-2415-74F6-2F65-BB99F483EC1E}"/>
              </a:ext>
            </a:extLst>
          </p:cNvPr>
          <p:cNvSpPr/>
          <p:nvPr/>
        </p:nvSpPr>
        <p:spPr>
          <a:xfrm>
            <a:off x="5273478" y="1111956"/>
            <a:ext cx="6260841" cy="362013"/>
          </a:xfrm>
          <a:prstGeom prst="rect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调节情绪方法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合适场合关照他人七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16-18</a:t>
            </a:r>
            <a:endParaRPr lang="zh-CN" altLang="en-US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DC69E63-E1EC-5930-056F-444B8DEBADE6}"/>
              </a:ext>
            </a:extLst>
          </p:cNvPr>
          <p:cNvSpPr/>
          <p:nvPr/>
        </p:nvSpPr>
        <p:spPr>
          <a:xfrm>
            <a:off x="5791201" y="3807202"/>
            <a:ext cx="2495288" cy="9946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建议：反思学习问题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请教学习方法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互助学习</a:t>
            </a:r>
            <a:r>
              <a:rPr lang="zh-CN" altLang="en-US" sz="2000" dirty="0">
                <a:solidFill>
                  <a:srgbClr val="00206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→共同进步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40DB467-7A19-A385-3A90-AB42C39D73B4}"/>
              </a:ext>
            </a:extLst>
          </p:cNvPr>
          <p:cNvSpPr/>
          <p:nvPr/>
        </p:nvSpPr>
        <p:spPr>
          <a:xfrm>
            <a:off x="9558752" y="2537648"/>
            <a:ext cx="2386956" cy="1008262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建议：敞开心扉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请教老师</a:t>
            </a:r>
            <a:r>
              <a:rPr lang="en-US" altLang="zh-CN" sz="2000" dirty="0"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rPr>
              <a:t>转移注意</a:t>
            </a:r>
            <a:endParaRPr lang="en-US" altLang="zh-CN" sz="20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zh-CN" altLang="en-US" sz="2000" dirty="0">
                <a:solidFill>
                  <a:srgbClr val="002060"/>
                </a:solidFill>
                <a:highlight>
                  <a:srgbClr val="FFFF00"/>
                </a:highlight>
                <a:latin typeface="黑体" panose="02010609060101010101" pitchFamily="49" charset="-122"/>
                <a:ea typeface="黑体" panose="02010609060101010101" pitchFamily="49" charset="-122"/>
              </a:rPr>
              <a:t>→成为情绪的主人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DCFFBAF0-02D7-0B6B-0798-67059FDBCE3E}"/>
              </a:ext>
            </a:extLst>
          </p:cNvPr>
          <p:cNvSpPr/>
          <p:nvPr/>
        </p:nvSpPr>
        <p:spPr>
          <a:xfrm>
            <a:off x="8932506" y="4450360"/>
            <a:ext cx="3132657" cy="16767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我们要：友谊</a:t>
            </a:r>
            <a:r>
              <a:rPr lang="en-US" altLang="zh-CN" sz="20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b="1" dirty="0">
                <a:solidFill>
                  <a:srgbClr val="FF0000"/>
                </a:solidFill>
                <a:highlight>
                  <a:srgbClr val="FFFF00"/>
                </a:highlight>
                <a:latin typeface="楷体" panose="02010609060101010101" pitchFamily="49" charset="-122"/>
                <a:ea typeface="楷体" panose="02010609060101010101" pitchFamily="49" charset="-122"/>
              </a:rPr>
              <a:t>情绪角度</a:t>
            </a:r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000" b="1" dirty="0">
              <a:solidFill>
                <a:srgbClr val="FF0000"/>
              </a:solidFill>
              <a:highlight>
                <a:srgbClr val="FFFF00"/>
              </a:highligh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我们要学会调节管理情绪，做情绪的主人，积极呵护友谊，成为更好的自己</a:t>
            </a: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3BBCE16B-60C0-10BD-9BD7-27DE54FC8391}"/>
              </a:ext>
            </a:extLst>
          </p:cNvPr>
          <p:cNvSpPr/>
          <p:nvPr/>
        </p:nvSpPr>
        <p:spPr>
          <a:xfrm>
            <a:off x="2809604" y="3711883"/>
            <a:ext cx="673825" cy="34382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E7A3C64F-633A-56C2-427D-64039759BA73}"/>
              </a:ext>
            </a:extLst>
          </p:cNvPr>
          <p:cNvCxnSpPr/>
          <p:nvPr/>
        </p:nvCxnSpPr>
        <p:spPr>
          <a:xfrm>
            <a:off x="508053" y="4904500"/>
            <a:ext cx="23015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9934DB12-69F6-BD75-E5CE-324D91F18A09}"/>
              </a:ext>
            </a:extLst>
          </p:cNvPr>
          <p:cNvCxnSpPr/>
          <p:nvPr/>
        </p:nvCxnSpPr>
        <p:spPr>
          <a:xfrm>
            <a:off x="3425084" y="4904500"/>
            <a:ext cx="230155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952D3E88-BDF7-AA34-0A65-50D6AEBCDF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302" y="5278020"/>
            <a:ext cx="5882173" cy="1313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7E367076-0EB0-A58B-436C-4AA525746C9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320" y="4783482"/>
            <a:ext cx="4901682" cy="18811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3E62A384-D56B-9704-37D8-D8F042E8649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8892" y="5630804"/>
            <a:ext cx="10563108" cy="11430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4509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25" grpId="0" animBg="1"/>
      <p:bldP spid="27" grpId="0" animBg="1"/>
      <p:bldP spid="29" grpId="0" animBg="1"/>
      <p:bldP spid="35" grpId="0" animBg="1"/>
      <p:bldP spid="36" grpId="0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DF55B22-3E92-9B0F-844E-32773697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030" y="0"/>
            <a:ext cx="115919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021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802</Words>
  <Application>Microsoft Office PowerPoint</Application>
  <PresentationFormat>宽屏</PresentationFormat>
  <Paragraphs>94</Paragraphs>
  <Slides>10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等线</vt:lpstr>
      <vt:lpstr>等线 Light</vt:lpstr>
      <vt:lpstr>方正宋刻本秀楷简体</vt:lpstr>
      <vt:lpstr>黑体</vt:lpstr>
      <vt:lpstr>华文中宋</vt:lpstr>
      <vt:lpstr>楷体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伶君 顾</dc:creator>
  <cp:lastModifiedBy>伶君 顾</cp:lastModifiedBy>
  <cp:revision>10</cp:revision>
  <dcterms:created xsi:type="dcterms:W3CDTF">2026-09-28T04:11:00Z</dcterms:created>
  <dcterms:modified xsi:type="dcterms:W3CDTF">2026-09-30T04:51:43Z</dcterms:modified>
</cp:coreProperties>
</file>