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56" r:id="rId4"/>
    <p:sldId id="257" r:id="rId5"/>
    <p:sldId id="258" r:id="rId7"/>
    <p:sldId id="261" r:id="rId8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gs" Target="tags/tag9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microsoft.com/office/2007/relationships/hdphoto" Target="../media/image4.wdp"/><Relationship Id="rId7" Type="http://schemas.openxmlformats.org/officeDocument/2006/relationships/image" Target="../media/image3.png"/><Relationship Id="rId6" Type="http://schemas.openxmlformats.org/officeDocument/2006/relationships/tags" Target="../tags/tag3.xml"/><Relationship Id="rId5" Type="http://schemas.microsoft.com/office/2007/relationships/hdphoto" Target="../media/image2.wdp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tags" Target="../tags/tag11.xml"/><Relationship Id="rId18" Type="http://schemas.openxmlformats.org/officeDocument/2006/relationships/tags" Target="../tags/tag10.xml"/><Relationship Id="rId17" Type="http://schemas.openxmlformats.org/officeDocument/2006/relationships/tags" Target="../tags/tag9.xml"/><Relationship Id="rId16" Type="http://schemas.openxmlformats.org/officeDocument/2006/relationships/tags" Target="../tags/tag8.xml"/><Relationship Id="rId15" Type="http://schemas.openxmlformats.org/officeDocument/2006/relationships/tags" Target="../tags/tag7.xml"/><Relationship Id="rId14" Type="http://schemas.openxmlformats.org/officeDocument/2006/relationships/image" Target="../media/image6.png"/><Relationship Id="rId13" Type="http://schemas.openxmlformats.org/officeDocument/2006/relationships/tags" Target="../tags/tag6.xml"/><Relationship Id="rId12" Type="http://schemas.openxmlformats.org/officeDocument/2006/relationships/tags" Target="../tags/tag5.xml"/><Relationship Id="rId11" Type="http://schemas.openxmlformats.org/officeDocument/2006/relationships/image" Target="NULL" TargetMode="External"/><Relationship Id="rId10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microsoft.com/office/2007/relationships/hdphoto" Target="../media/image9.wdp"/><Relationship Id="rId7" Type="http://schemas.openxmlformats.org/officeDocument/2006/relationships/image" Target="../media/image8.png"/><Relationship Id="rId6" Type="http://schemas.openxmlformats.org/officeDocument/2006/relationships/tags" Target="../tags/tag19.xml"/><Relationship Id="rId5" Type="http://schemas.openxmlformats.org/officeDocument/2006/relationships/image" Target="NULL" TargetMode="External"/><Relationship Id="rId4" Type="http://schemas.openxmlformats.org/officeDocument/2006/relationships/image" Target="../media/image7.png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image" Target="NULL" TargetMode="External"/><Relationship Id="rId7" Type="http://schemas.openxmlformats.org/officeDocument/2006/relationships/image" Target="../media/image12.png"/><Relationship Id="rId6" Type="http://schemas.openxmlformats.org/officeDocument/2006/relationships/tags" Target="../tags/tag26.xml"/><Relationship Id="rId5" Type="http://schemas.microsoft.com/office/2007/relationships/hdphoto" Target="../media/image11.wdp"/><Relationship Id="rId4" Type="http://schemas.openxmlformats.org/officeDocument/2006/relationships/image" Target="../media/image10.png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microsoft.com/office/2007/relationships/hdphoto" Target="../media/image14.wdp"/><Relationship Id="rId11" Type="http://schemas.openxmlformats.org/officeDocument/2006/relationships/image" Target="../media/image13.png"/><Relationship Id="rId10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image" Target="NULL" TargetMode="External"/><Relationship Id="rId7" Type="http://schemas.openxmlformats.org/officeDocument/2006/relationships/image" Target="../media/image15.png"/><Relationship Id="rId6" Type="http://schemas.openxmlformats.org/officeDocument/2006/relationships/tags" Target="../tags/tag65.xml"/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8" Type="http://schemas.openxmlformats.org/officeDocument/2006/relationships/tags" Target="../tags/tag72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image" Target="../media/image6.png"/><Relationship Id="rId14" Type="http://schemas.openxmlformats.org/officeDocument/2006/relationships/tags" Target="../tags/tag69.xml"/><Relationship Id="rId13" Type="http://schemas.microsoft.com/office/2007/relationships/hdphoto" Target="../media/image2.wdp"/><Relationship Id="rId12" Type="http://schemas.openxmlformats.org/officeDocument/2006/relationships/image" Target="../media/image1.png"/><Relationship Id="rId11" Type="http://schemas.openxmlformats.org/officeDocument/2006/relationships/tags" Target="../tags/tag68.xml"/><Relationship Id="rId10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2"/>
            </p:custDataLst>
          </p:nvPr>
        </p:nvSpPr>
        <p:spPr>
          <a:xfrm flipH="1" flipV="1">
            <a:off x="-1270" y="0"/>
            <a:ext cx="12191365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bg1">
                  <a:alpha val="0"/>
                </a:schemeClr>
              </a:gs>
            </a:gsLst>
            <a:lin ang="195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77775" y="5528120"/>
            <a:ext cx="2414225" cy="134733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85267" y="0"/>
            <a:ext cx="4956478" cy="4895512"/>
          </a:xfrm>
          <a:prstGeom prst="rect">
            <a:avLst/>
          </a:prstGeom>
        </p:spPr>
      </p:pic>
      <p:pic>
        <p:nvPicPr>
          <p:cNvPr id="9" name="@png2x_01_封面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 r:link="rId11"/>
          <a:stretch>
            <a:fillRect/>
          </a:stretch>
        </p:blipFill>
        <p:spPr>
          <a:xfrm>
            <a:off x="0" y="18514"/>
            <a:ext cx="89789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12"/>
            </p:custDataLst>
          </p:nvPr>
        </p:nvSpPr>
        <p:spPr>
          <a:xfrm>
            <a:off x="1013460" y="2908935"/>
            <a:ext cx="10515600" cy="1411605"/>
          </a:xfrm>
        </p:spPr>
        <p:txBody>
          <a:bodyPr anchor="t" anchorCtr="0">
            <a:normAutofit/>
          </a:bodyPr>
          <a:lstStyle>
            <a:lvl1pPr algn="just">
              <a:lnSpc>
                <a:spcPct val="10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0551" y="5785011"/>
            <a:ext cx="2560542" cy="1072989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5"/>
            </p:custDataLst>
          </p:nvPr>
        </p:nvSpPr>
        <p:spPr>
          <a:xfrm>
            <a:off x="1019175" y="1466850"/>
            <a:ext cx="10515600" cy="1371600"/>
          </a:xfrm>
        </p:spPr>
        <p:txBody>
          <a:bodyPr anchor="b">
            <a:normAutofit/>
          </a:bodyPr>
          <a:lstStyle>
            <a:lvl1pPr marL="0" indent="0" algn="just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1015681" y="4327980"/>
            <a:ext cx="10525125" cy="1745274"/>
          </a:xfrm>
        </p:spPr>
        <p:txBody>
          <a:bodyPr anchor="t">
            <a:normAutofit/>
          </a:bodyPr>
          <a:lstStyle>
            <a:lvl1pPr marL="0" indent="0" algn="just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署名占位符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8"/>
            <p:custDataLst>
              <p:tags r:id="rId1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23" name="页脚占位符 22"/>
          <p:cNvSpPr>
            <a:spLocks noGrp="1"/>
          </p:cNvSpPr>
          <p:nvPr>
            <p:ph type="ftr" sz="quarter" idx="19"/>
            <p:custDataLst>
              <p:tags r:id="rId1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5" name="灯片编号占位符 24"/>
          <p:cNvSpPr>
            <a:spLocks noGrp="1"/>
          </p:cNvSpPr>
          <p:nvPr>
            <p:ph type="sldNum" sz="quarter" idx="20"/>
            <p:custDataLst>
              <p:tags r:id="rId1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2"/>
            </p:custDataLst>
          </p:nvPr>
        </p:nvSpPr>
        <p:spPr>
          <a:xfrm>
            <a:off x="1270" y="0"/>
            <a:ext cx="3658870" cy="6858000"/>
          </a:xfrm>
          <a:prstGeom prst="rect">
            <a:avLst/>
          </a:prstGeom>
          <a:gradFill>
            <a:gsLst>
              <a:gs pos="38000">
                <a:schemeClr val="accent4">
                  <a:alpha val="100000"/>
                </a:schemeClr>
              </a:gs>
              <a:gs pos="0">
                <a:schemeClr val="accent2"/>
              </a:gs>
              <a:gs pos="84000">
                <a:schemeClr val="accent1">
                  <a:alpha val="100000"/>
                </a:schemeClr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@png2x_01_目录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r:link="rId5"/>
          <a:stretch>
            <a:fillRect/>
          </a:stretch>
        </p:blipFill>
        <p:spPr>
          <a:xfrm>
            <a:off x="2540" y="0"/>
            <a:ext cx="36576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20000" contrast="-2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0" y="5784850"/>
            <a:ext cx="1292225" cy="10731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390387" y="1160060"/>
            <a:ext cx="2880000" cy="453788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-1270" y="0"/>
            <a:ext cx="12191365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44000">
                <a:schemeClr val="accent2"/>
              </a:gs>
              <a:gs pos="100000">
                <a:schemeClr val="bg1">
                  <a:alpha val="0"/>
                </a:schemeClr>
              </a:gs>
            </a:gsLst>
            <a:lin ang="195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3231" y="0"/>
            <a:ext cx="4956478" cy="4895512"/>
          </a:xfrm>
          <a:prstGeom prst="rect">
            <a:avLst/>
          </a:prstGeom>
        </p:spPr>
      </p:pic>
      <p:pic>
        <p:nvPicPr>
          <p:cNvPr id="10" name="@png2x_01_章节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r:link="rId8"/>
          <a:stretch>
            <a:fillRect/>
          </a:stretch>
        </p:blipFill>
        <p:spPr>
          <a:xfrm>
            <a:off x="3027997" y="0"/>
            <a:ext cx="916178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900874" y="3471442"/>
            <a:ext cx="4817288" cy="2688336"/>
          </a:xfrm>
        </p:spPr>
        <p:txBody>
          <a:bodyPr anchor="t">
            <a:normAutofit/>
          </a:bodyPr>
          <a:lstStyle>
            <a:lvl1pPr algn="just">
              <a:defRPr sz="44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20000"/>
                    </a14:imgEffect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510667"/>
            <a:ext cx="2231329" cy="1347333"/>
          </a:xfrm>
          <a:prstGeom prst="rect">
            <a:avLst/>
          </a:prstGeom>
        </p:spPr>
      </p:pic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5889307" y="464457"/>
            <a:ext cx="4817288" cy="2908699"/>
          </a:xfrm>
        </p:spPr>
        <p:txBody>
          <a:bodyPr anchor="b">
            <a:normAutofit/>
          </a:bodyPr>
          <a:lstStyle>
            <a:lvl1pPr marL="0" indent="0" algn="just">
              <a:buNone/>
              <a:defRPr sz="36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40105" y="360045"/>
            <a:ext cx="10515600" cy="76327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anchor="t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 flipH="1" flipV="1">
            <a:off x="-1270" y="0"/>
            <a:ext cx="12191365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44000">
                <a:schemeClr val="accent2"/>
              </a:gs>
              <a:gs pos="100000">
                <a:schemeClr val="bg1">
                  <a:alpha val="0"/>
                </a:schemeClr>
              </a:gs>
            </a:gsLst>
            <a:lin ang="195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85267" y="0"/>
            <a:ext cx="4956478" cy="4895512"/>
          </a:xfrm>
          <a:prstGeom prst="rect">
            <a:avLst/>
          </a:prstGeom>
        </p:spPr>
      </p:pic>
      <p:pic>
        <p:nvPicPr>
          <p:cNvPr id="9" name="@png2x_01_结束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r:link="rId8"/>
          <a:stretch>
            <a:fillRect/>
          </a:stretch>
        </p:blipFill>
        <p:spPr>
          <a:xfrm>
            <a:off x="1587" y="0"/>
            <a:ext cx="89789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9"/>
            </p:custDataLst>
          </p:nvPr>
        </p:nvSpPr>
        <p:spPr>
          <a:xfrm>
            <a:off x="1001486" y="1103086"/>
            <a:ext cx="7489371" cy="2453412"/>
          </a:xfrm>
        </p:spPr>
        <p:txBody>
          <a:bodyPr anchor="b"/>
          <a:lstStyle>
            <a:lvl1pPr algn="l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77775" y="5555279"/>
            <a:ext cx="2414225" cy="134733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1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0551" y="5785011"/>
            <a:ext cx="2560542" cy="1072989"/>
          </a:xfrm>
          <a:prstGeom prst="rect">
            <a:avLst/>
          </a:prstGeom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8"/>
            </p:custDataLst>
          </p:nvPr>
        </p:nvSpPr>
        <p:spPr>
          <a:xfrm>
            <a:off x="1001485" y="3898612"/>
            <a:ext cx="7489371" cy="2125541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署名占位符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80.xml"/><Relationship Id="rId18" Type="http://schemas.openxmlformats.org/officeDocument/2006/relationships/tags" Target="../tags/tag79.xml"/><Relationship Id="rId17" Type="http://schemas.openxmlformats.org/officeDocument/2006/relationships/tags" Target="../tags/tag78.xml"/><Relationship Id="rId16" Type="http://schemas.openxmlformats.org/officeDocument/2006/relationships/tags" Target="../tags/tag77.xml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-635" y="-635"/>
            <a:ext cx="12190730" cy="3536950"/>
          </a:xfrm>
          <a:prstGeom prst="rect">
            <a:avLst/>
          </a:prstGeom>
          <a:gradFill>
            <a:gsLst>
              <a:gs pos="0">
                <a:schemeClr val="accent1"/>
              </a:gs>
              <a:gs pos="49000">
                <a:schemeClr val="accent4">
                  <a:lumMod val="67000"/>
                  <a:lumOff val="33000"/>
                </a:schemeClr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10" name="任意多边形 9"/>
          <p:cNvSpPr/>
          <p:nvPr userDrawn="1">
            <p:custDataLst>
              <p:tags r:id="rId13"/>
            </p:custDataLst>
          </p:nvPr>
        </p:nvSpPr>
        <p:spPr>
          <a:xfrm>
            <a:off x="1270" y="284480"/>
            <a:ext cx="12190730" cy="6574155"/>
          </a:xfrm>
          <a:custGeom>
            <a:avLst/>
            <a:gdLst>
              <a:gd name="adj" fmla="val 837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198" h="8977">
                <a:moveTo>
                  <a:pt x="861" y="0"/>
                </a:moveTo>
                <a:lnTo>
                  <a:pt x="18337" y="0"/>
                </a:lnTo>
                <a:cubicBezTo>
                  <a:pt x="18813" y="0"/>
                  <a:pt x="19198" y="385"/>
                  <a:pt x="19198" y="861"/>
                </a:cubicBezTo>
                <a:lnTo>
                  <a:pt x="19198" y="8977"/>
                </a:lnTo>
                <a:lnTo>
                  <a:pt x="0" y="8977"/>
                </a:lnTo>
                <a:lnTo>
                  <a:pt x="0" y="861"/>
                </a:lnTo>
                <a:cubicBezTo>
                  <a:pt x="0" y="385"/>
                  <a:pt x="385" y="0"/>
                  <a:pt x="86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1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7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tags" Target="../tags/tag8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2529840"/>
            <a:ext cx="10515600" cy="1411605"/>
          </a:xfrm>
        </p:spPr>
        <p:txBody>
          <a:bodyPr>
            <a:noAutofit/>
          </a:bodyPr>
          <a:lstStyle/>
          <a:p>
            <a:pPr algn="ctr"/>
            <a:r>
              <a:rPr lang="zh-CN" altLang="en-US" sz="8800"/>
              <a:t>中考体育解读</a:t>
            </a:r>
            <a:endParaRPr lang="zh-CN" altLang="en-US" sz="8800"/>
          </a:p>
        </p:txBody>
      </p:sp>
      <p:sp>
        <p:nvSpPr>
          <p:cNvPr id="2" name="文本框 1"/>
          <p:cNvSpPr txBox="1"/>
          <p:nvPr/>
        </p:nvSpPr>
        <p:spPr>
          <a:xfrm>
            <a:off x="7290435" y="5324475"/>
            <a:ext cx="4358005" cy="662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altLang="zh-CN" sz="2400"/>
              <a:t>——</a:t>
            </a:r>
            <a:r>
              <a:rPr lang="zh-CN" altLang="en-US" sz="2400"/>
              <a:t>上海市西延安中学体育组</a:t>
            </a:r>
            <a:endParaRPr lang="zh-CN" altLang="en-US" sz="2400"/>
          </a:p>
          <a:p>
            <a:pPr algn="r"/>
            <a:endParaRPr lang="en-US" altLang="zh-CN" sz="2400"/>
          </a:p>
          <a:p>
            <a:pPr algn="r"/>
            <a:r>
              <a:rPr lang="en-US" altLang="zh-CN" sz="2400"/>
              <a:t>2026.6.29</a:t>
            </a:r>
            <a:endParaRPr lang="en-US" altLang="zh-CN" sz="2400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考试项目与分值</a:t>
            </a:r>
            <a:endParaRPr lang="zh-CN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35635" y="977900"/>
            <a:ext cx="10800080" cy="5269865"/>
          </a:xfrm>
          <a:prstGeom prst="rect">
            <a:avLst/>
          </a:prstGeom>
        </p:spPr>
        <p:txBody>
          <a:bodyPr vert="horz" wrap="square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20"/>
              </a:lnSpc>
              <a:buNone/>
            </a:pPr>
            <a:r>
              <a:rPr lang="zh-CN" altLang="en-US" sz="1800" b="1">
                <a:solidFill>
                  <a:schemeClr val="tx1"/>
                </a:solidFill>
              </a:rPr>
              <a:t>（1）第一类项目（</a:t>
            </a:r>
            <a:r>
              <a:rPr lang="en-US" altLang="zh-CN" sz="1800" b="1">
                <a:solidFill>
                  <a:schemeClr val="tx1"/>
                </a:solidFill>
              </a:rPr>
              <a:t>6</a:t>
            </a:r>
            <a:r>
              <a:rPr lang="zh-CN" altLang="en-US" sz="1800" b="1">
                <a:solidFill>
                  <a:schemeClr val="tx1"/>
                </a:solidFill>
              </a:rPr>
              <a:t>分）</a:t>
            </a:r>
            <a:endParaRPr lang="zh-CN" altLang="en-US" sz="1800" b="1">
              <a:solidFill>
                <a:schemeClr val="tx1"/>
              </a:solidFill>
            </a:endParaRPr>
          </a:p>
          <a:p>
            <a:pPr marL="0" indent="0" fontAlgn="auto">
              <a:lnSpc>
                <a:spcPts val="2020"/>
              </a:lnSpc>
              <a:buNone/>
            </a:pPr>
            <a:r>
              <a:rPr lang="zh-CN" altLang="en-US" sz="1800">
                <a:solidFill>
                  <a:schemeClr val="tx1"/>
                </a:solidFill>
              </a:rPr>
              <a:t>男生：1000 米跑、200 米游泳、4 分钟跳绳（三选一）</a:t>
            </a:r>
            <a:endParaRPr lang="zh-CN" altLang="en-US" sz="1800">
              <a:solidFill>
                <a:schemeClr val="tx1"/>
              </a:solidFill>
            </a:endParaRPr>
          </a:p>
          <a:p>
            <a:pPr marL="0" indent="0" fontAlgn="auto">
              <a:lnSpc>
                <a:spcPts val="2020"/>
              </a:lnSpc>
              <a:buNone/>
            </a:pPr>
            <a:r>
              <a:rPr lang="zh-CN" altLang="en-US" sz="1800">
                <a:solidFill>
                  <a:schemeClr val="tx1"/>
                </a:solidFill>
              </a:rPr>
              <a:t>女生：</a:t>
            </a:r>
            <a:r>
              <a:rPr lang="en-US" altLang="zh-CN" sz="1800">
                <a:solidFill>
                  <a:schemeClr val="tx1"/>
                </a:solidFill>
              </a:rPr>
              <a:t> </a:t>
            </a:r>
            <a:r>
              <a:rPr lang="zh-CN" altLang="en-US" sz="1800">
                <a:solidFill>
                  <a:schemeClr val="tx1"/>
                </a:solidFill>
              </a:rPr>
              <a:t>800 </a:t>
            </a:r>
            <a:r>
              <a:rPr lang="en-US" altLang="zh-CN" sz="1800">
                <a:solidFill>
                  <a:schemeClr val="tx1"/>
                </a:solidFill>
              </a:rPr>
              <a:t> </a:t>
            </a:r>
            <a:r>
              <a:rPr lang="zh-CN" altLang="en-US" sz="1800">
                <a:solidFill>
                  <a:schemeClr val="tx1"/>
                </a:solidFill>
              </a:rPr>
              <a:t>米跑、200 米游泳、4 分钟跳绳（三选一）</a:t>
            </a:r>
            <a:endParaRPr lang="zh-CN" altLang="en-US" sz="1800">
              <a:solidFill>
                <a:schemeClr val="tx1"/>
              </a:solidFill>
            </a:endParaRPr>
          </a:p>
          <a:p>
            <a:pPr marL="0" indent="0" fontAlgn="auto">
              <a:lnSpc>
                <a:spcPts val="2020"/>
              </a:lnSpc>
              <a:buNone/>
            </a:pPr>
            <a:r>
              <a:rPr lang="zh-CN" altLang="en-US" sz="1800" b="1">
                <a:solidFill>
                  <a:schemeClr val="tx1"/>
                </a:solidFill>
              </a:rPr>
              <a:t>（2）第二类项目（</a:t>
            </a:r>
            <a:r>
              <a:rPr lang="en-US" altLang="zh-CN" sz="1800" b="1">
                <a:solidFill>
                  <a:schemeClr val="tx1"/>
                </a:solidFill>
              </a:rPr>
              <a:t>3</a:t>
            </a:r>
            <a:r>
              <a:rPr lang="zh-CN" altLang="en-US" sz="1800" b="1">
                <a:solidFill>
                  <a:schemeClr val="tx1"/>
                </a:solidFill>
              </a:rPr>
              <a:t>分）</a:t>
            </a:r>
            <a:endParaRPr lang="zh-CN" altLang="en-US" sz="1800" b="1">
              <a:solidFill>
                <a:schemeClr val="tx1"/>
              </a:solidFill>
            </a:endParaRPr>
          </a:p>
          <a:p>
            <a:pPr marL="0" indent="0" fontAlgn="auto">
              <a:lnSpc>
                <a:spcPts val="2020"/>
              </a:lnSpc>
              <a:buNone/>
            </a:pPr>
            <a:r>
              <a:rPr lang="zh-CN" altLang="en-US" sz="1800">
                <a:solidFill>
                  <a:schemeClr val="tx1"/>
                </a:solidFill>
              </a:rPr>
              <a:t>男生：50 米跑、立定跳远、实心球、引体向上、25 米游泳（五选一）</a:t>
            </a:r>
            <a:endParaRPr lang="zh-CN" altLang="en-US" sz="1800">
              <a:solidFill>
                <a:schemeClr val="tx1"/>
              </a:solidFill>
            </a:endParaRPr>
          </a:p>
          <a:p>
            <a:pPr marL="0" indent="0" fontAlgn="auto">
              <a:lnSpc>
                <a:spcPts val="2020"/>
              </a:lnSpc>
              <a:buNone/>
            </a:pPr>
            <a:r>
              <a:rPr lang="zh-CN" altLang="en-US" sz="1800">
                <a:solidFill>
                  <a:schemeClr val="tx1"/>
                </a:solidFill>
              </a:rPr>
              <a:t>女生：50 米跑、立定跳远、实心球、仰卧起坐、25 米游泳（五选一）</a:t>
            </a:r>
            <a:endParaRPr lang="zh-CN" altLang="en-US" sz="1800">
              <a:solidFill>
                <a:schemeClr val="tx1"/>
              </a:solidFill>
            </a:endParaRPr>
          </a:p>
          <a:p>
            <a:pPr marL="0" indent="0" fontAlgn="auto">
              <a:lnSpc>
                <a:spcPts val="2020"/>
              </a:lnSpc>
              <a:buNone/>
            </a:pPr>
            <a:r>
              <a:rPr lang="zh-CN" altLang="en-US" sz="1800" b="1">
                <a:solidFill>
                  <a:schemeClr val="tx1"/>
                </a:solidFill>
              </a:rPr>
              <a:t>（3）第三类项目（</a:t>
            </a:r>
            <a:r>
              <a:rPr lang="en-US" altLang="zh-CN" sz="1800" b="1">
                <a:solidFill>
                  <a:schemeClr val="tx1"/>
                </a:solidFill>
              </a:rPr>
              <a:t>3</a:t>
            </a:r>
            <a:r>
              <a:rPr lang="zh-CN" altLang="en-US" sz="1800" b="1">
                <a:solidFill>
                  <a:schemeClr val="tx1"/>
                </a:solidFill>
              </a:rPr>
              <a:t>分）</a:t>
            </a:r>
            <a:endParaRPr lang="zh-CN" altLang="en-US" sz="1800" b="1">
              <a:solidFill>
                <a:schemeClr val="tx1"/>
              </a:solidFill>
            </a:endParaRPr>
          </a:p>
          <a:p>
            <a:pPr marL="0" indent="0" fontAlgn="auto">
              <a:lnSpc>
                <a:spcPts val="2020"/>
              </a:lnSpc>
              <a:buNone/>
            </a:pPr>
            <a:r>
              <a:rPr lang="zh-CN" altLang="en-US" sz="1800">
                <a:solidFill>
                  <a:schemeClr val="tx1"/>
                </a:solidFill>
              </a:rPr>
              <a:t>男生/女生：乒乓球、羽毛球、网球、武术、体操（五选一）</a:t>
            </a:r>
            <a:endParaRPr lang="zh-CN" altLang="en-US" sz="1800">
              <a:solidFill>
                <a:schemeClr val="tx1"/>
              </a:solidFill>
            </a:endParaRPr>
          </a:p>
          <a:p>
            <a:pPr marL="0" indent="0" fontAlgn="auto">
              <a:lnSpc>
                <a:spcPts val="2020"/>
              </a:lnSpc>
              <a:buNone/>
            </a:pPr>
            <a:r>
              <a:rPr lang="zh-CN" altLang="en-US" sz="1800" b="1">
                <a:solidFill>
                  <a:schemeClr val="tx1"/>
                </a:solidFill>
              </a:rPr>
              <a:t>（4）第四类项目（</a:t>
            </a:r>
            <a:r>
              <a:rPr lang="en-US" altLang="zh-CN" sz="1800" b="1">
                <a:solidFill>
                  <a:schemeClr val="tx1"/>
                </a:solidFill>
              </a:rPr>
              <a:t>3</a:t>
            </a:r>
            <a:r>
              <a:rPr lang="zh-CN" altLang="en-US" sz="1800" b="1">
                <a:solidFill>
                  <a:schemeClr val="tx1"/>
                </a:solidFill>
              </a:rPr>
              <a:t>分）</a:t>
            </a:r>
            <a:endParaRPr lang="zh-CN" altLang="en-US" sz="1800" b="1">
              <a:solidFill>
                <a:schemeClr val="tx1"/>
              </a:solidFill>
            </a:endParaRPr>
          </a:p>
          <a:p>
            <a:pPr marL="0" indent="0" fontAlgn="auto">
              <a:lnSpc>
                <a:spcPts val="2020"/>
              </a:lnSpc>
              <a:buNone/>
            </a:pPr>
            <a:r>
              <a:rPr lang="zh-CN" altLang="en-US" sz="1800">
                <a:solidFill>
                  <a:schemeClr val="tx1"/>
                </a:solidFill>
              </a:rPr>
              <a:t>男生/女生：足球、篮球、排球（三选一）</a:t>
            </a:r>
            <a:endParaRPr lang="zh-CN" altLang="en-US" sz="1800">
              <a:solidFill>
                <a:schemeClr val="tx1"/>
              </a:solidFill>
            </a:endParaRPr>
          </a:p>
          <a:p>
            <a:pPr marL="0" indent="0" fontAlgn="auto">
              <a:lnSpc>
                <a:spcPct val="150000"/>
              </a:lnSpc>
              <a:buNone/>
            </a:pPr>
            <a:r>
              <a:rPr lang="en-US" altLang="zh-CN" sz="1800">
                <a:solidFill>
                  <a:schemeClr val="tx1"/>
                </a:solidFill>
              </a:rPr>
              <a:t>       *</a:t>
            </a:r>
            <a:r>
              <a:rPr lang="zh-CN" altLang="en-US" sz="1800">
                <a:solidFill>
                  <a:schemeClr val="tx1"/>
                </a:solidFill>
              </a:rPr>
              <a:t>每位考生必须参加全部四类项目的考试。可在上述各类项目中各选择一个自己擅长的作为考试项目，项目一经选定后，不得更改。如选择体操项目，须选择垫上运动、单杠、双杠、支撑跳跃（横箱分腿腾越）中的两项。如在第一类项目中选择 1000 米/800 米跑，达到一定要求后可得附加分（统一考试满分仍为 15 分）。</a:t>
            </a:r>
            <a:endParaRPr lang="zh-CN" altLang="en-US" sz="18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标题 9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293960"/>
            <a:ext cx="10800000" cy="720000"/>
          </a:xfrm>
        </p:spPr>
        <p:txBody>
          <a:bodyPr vert="horz" lIns="0" tIns="0" rIns="0" bIns="0" rtlCol="0" anchor="t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评分标准</a:t>
            </a:r>
            <a:endParaRPr lang="zh-CN" altLang="en-US" sz="20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455" y="591185"/>
            <a:ext cx="5322570" cy="588772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83210" y="6414135"/>
            <a:ext cx="5813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r>
              <a:rPr lang="zh-CN" altLang="en-US" sz="12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*1000米跑达到3'54"-3'41"的，得附加分0.5分，达到3'40"及以上的，得附加分1分（统一考试总分仍为15分）</a:t>
            </a:r>
            <a:endParaRPr lang="zh-CN" altLang="en-US" sz="12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56960" y="6414135"/>
            <a:ext cx="57626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2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*800米跑达到3'39"-3'26"的，得附加分0.5分，达到3'25"及以上的，得附加分1分（统一考试总分仍为15分）</a:t>
            </a:r>
            <a:endParaRPr lang="zh-CN" altLang="en-US" sz="12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20" y="582930"/>
            <a:ext cx="5290820" cy="58629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暑期练习要求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内容占位符 3"/>
          <p:cNvSpPr/>
          <p:nvPr>
            <p:ph idx="1"/>
            <p:custDataLst>
              <p:tags r:id="rId2"/>
            </p:custDataLst>
          </p:nvPr>
        </p:nvSpPr>
        <p:spPr>
          <a:xfrm>
            <a:off x="695960" y="1080135"/>
            <a:ext cx="10800080" cy="5248275"/>
          </a:xfrm>
        </p:spPr>
        <p:txBody>
          <a:bodyPr>
            <a:noAutofit/>
          </a:bodyPr>
          <a:p>
            <a:pPr marL="0" indent="0">
              <a:lnSpc>
                <a:spcPct val="130000"/>
              </a:lnSpc>
              <a:buNone/>
            </a:pPr>
            <a:r>
              <a:rPr lang="zh-CN" altLang="en-US"/>
              <a:t>一、注意事项</a:t>
            </a:r>
            <a:endParaRPr lang="en-US" altLang="zh-CN"/>
          </a:p>
          <a:p>
            <a:pPr marL="0" indent="0">
              <a:lnSpc>
                <a:spcPct val="130000"/>
              </a:lnSpc>
              <a:buNone/>
            </a:pPr>
            <a:r>
              <a:rPr lang="en-US" altLang="zh-CN"/>
              <a:t>1</a:t>
            </a:r>
            <a:r>
              <a:rPr lang="zh-CN" altLang="en-US"/>
              <a:t>、注意安全，热身拉伸必须做：运动前 10 分钟动态热身，运动后静态拉伸，防止抽筋、关节扭伤。</a:t>
            </a:r>
            <a:endParaRPr lang="zh-CN" altLang="en-US"/>
          </a:p>
          <a:p>
            <a:pPr marL="0" indent="0">
              <a:lnSpc>
                <a:spcPct val="130000"/>
              </a:lnSpc>
              <a:buNone/>
            </a:pPr>
            <a:r>
              <a:rPr lang="en-US" altLang="zh-CN"/>
              <a:t>2</a:t>
            </a:r>
            <a:r>
              <a:rPr lang="zh-CN" altLang="en-US"/>
              <a:t>、选乒乓球、羽毛球、网球、游泳的学生，</a:t>
            </a:r>
            <a:r>
              <a:rPr lang="zh-CN" altLang="en-US" u="sng">
                <a:solidFill>
                  <a:srgbClr val="FF0000"/>
                </a:solidFill>
              </a:rPr>
              <a:t>开学后需要提交练习视频，以</a:t>
            </a:r>
            <a:r>
              <a:rPr lang="en-US" altLang="zh-CN" u="sng">
                <a:solidFill>
                  <a:srgbClr val="FF0000"/>
                </a:solidFill>
              </a:rPr>
              <a:t>U</a:t>
            </a:r>
            <a:r>
              <a:rPr lang="zh-CN" altLang="en-US" u="sng">
                <a:solidFill>
                  <a:srgbClr val="FF0000"/>
                </a:solidFill>
              </a:rPr>
              <a:t>盘形式交给自己的体育老师。</a:t>
            </a:r>
            <a:endParaRPr lang="zh-CN" altLang="en-US"/>
          </a:p>
          <a:p>
            <a:pPr marL="0" indent="0">
              <a:lnSpc>
                <a:spcPct val="130000"/>
              </a:lnSpc>
              <a:buNone/>
            </a:pPr>
            <a:r>
              <a:rPr lang="zh-CN" altLang="en-US"/>
              <a:t>二、必练项目（每日完成）</a:t>
            </a:r>
            <a:endParaRPr lang="zh-CN" altLang="en-US"/>
          </a:p>
          <a:p>
            <a:pPr marL="0" indent="0">
              <a:lnSpc>
                <a:spcPct val="130000"/>
              </a:lnSpc>
              <a:buNone/>
            </a:pPr>
            <a:r>
              <a:rPr lang="zh-CN" altLang="en-US"/>
              <a:t>1、四分钟跳短绳：每日完成 1 组，保证练习时长与练习质量。</a:t>
            </a:r>
            <a:endParaRPr lang="zh-CN" altLang="en-US"/>
          </a:p>
          <a:p>
            <a:pPr marL="0" indent="0">
              <a:lnSpc>
                <a:spcPct val="130000"/>
              </a:lnSpc>
              <a:buNone/>
            </a:pPr>
            <a:r>
              <a:rPr lang="zh-CN" altLang="en-US"/>
              <a:t>2、武术 / 小球类练习：任选其一坚持练习，熟练掌握动作要领。</a:t>
            </a:r>
            <a:endParaRPr lang="zh-CN" altLang="en-US"/>
          </a:p>
          <a:p>
            <a:pPr marL="0" indent="0">
              <a:lnSpc>
                <a:spcPct val="130000"/>
              </a:lnSpc>
              <a:buNone/>
            </a:pPr>
            <a:r>
              <a:rPr lang="zh-CN" altLang="en-US"/>
              <a:t>三、选练项目（三选二，每日完成）</a:t>
            </a:r>
            <a:endParaRPr lang="zh-CN" altLang="en-US"/>
          </a:p>
          <a:p>
            <a:pPr marL="0" indent="0">
              <a:lnSpc>
                <a:spcPct val="130000"/>
              </a:lnSpc>
              <a:buNone/>
            </a:pPr>
            <a:r>
              <a:rPr lang="zh-CN" altLang="en-US"/>
              <a:t>从以下三项中自主选择两项开展练习：</a:t>
            </a:r>
            <a:endParaRPr lang="zh-CN" altLang="en-US"/>
          </a:p>
          <a:p>
            <a:pPr marL="0" indent="0">
              <a:lnSpc>
                <a:spcPct val="130000"/>
              </a:lnSpc>
              <a:buNone/>
            </a:pPr>
            <a:r>
              <a:rPr lang="zh-CN" altLang="en-US"/>
              <a:t>1、俯撑开合：20 个 / 组，每日完成 2 组；</a:t>
            </a:r>
            <a:endParaRPr lang="zh-CN" altLang="en-US"/>
          </a:p>
          <a:p>
            <a:pPr marL="0" indent="0">
              <a:lnSpc>
                <a:spcPct val="130000"/>
              </a:lnSpc>
              <a:buNone/>
            </a:pPr>
            <a:r>
              <a:rPr lang="zh-CN" altLang="en-US"/>
              <a:t>2、俯卧撑：15 个 / 组，每日完成 2 组；</a:t>
            </a:r>
            <a:endParaRPr lang="zh-CN" altLang="en-US"/>
          </a:p>
          <a:p>
            <a:pPr marL="0" indent="0">
              <a:lnSpc>
                <a:spcPct val="130000"/>
              </a:lnSpc>
              <a:buNone/>
            </a:pPr>
            <a:r>
              <a:rPr lang="zh-CN" altLang="en-US"/>
              <a:t>3、仰卧起坐：55 个 / 组，每日完成 1 组。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1289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CATEGORY" val="custom"/>
  <p:tag name="KSO_WM_TEMPLATE_INDEX" val="20231289"/>
</p:tagLst>
</file>

<file path=ppt/tags/tag80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89"/>
  <p:tag name="KSO_WM_TEMPLATE_THUMBS_INDEX" val="1、9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289_1*a*1"/>
  <p:tag name="KSO_WM_TEMPLATE_CATEGORY" val="custom"/>
  <p:tag name="KSO_WM_TEMPLATE_INDEX" val="20231289"/>
  <p:tag name="KSO_WM_UNIT_LAYERLEVEL" val="1"/>
  <p:tag name="KSO_WM_TAG_VERSION" val="3.0"/>
  <p:tag name="KSO_WM_BEAUTIFY_FLAG" val="#wm#"/>
  <p:tag name="KSO_WM_UNIT_PRESET_TEXT" val="单击此处添加文档标题"/>
  <p:tag name="KSO_WM_UNIT_TEXT_TYPE" val="1"/>
</p:tagLst>
</file>

<file path=ppt/tags/tag82.xml><?xml version="1.0" encoding="utf-8"?>
<p:tagLst xmlns:p="http://schemas.openxmlformats.org/presentationml/2006/main">
  <p:tag name="KSO_WM_SLIDE_ID" val="custom20231289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1289"/>
  <p:tag name="KSO_WM_SLIDE_LAYOUT" val="a_b_f"/>
  <p:tag name="KSO_WM_SLIDE_LAYOUT_CNT" val="1_1_1"/>
  <p:tag name="KSO_WM_SLIDE_TYPE" val="title"/>
  <p:tag name="KSO_WM_SLIDE_SUBTYPE" val="pureTxt"/>
  <p:tag name="KSO_WM_TEMPLATE_THUMBS_INDEX" val="1、9"/>
  <p:tag name="KSO_WM_SLIDE_THEME_ID" val="3316257"/>
  <p:tag name="KSO_WM_SLIDE_THEME_NAME" val="简约风渐变玻璃球职场办公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4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85.xml><?xml version="1.0" encoding="utf-8"?>
<p:tagLst xmlns:p="http://schemas.openxmlformats.org/presentationml/2006/main">
  <p:tag name="KSO_WM_SLIDE_TYPE" val="text"/>
  <p:tag name="KSO_WM_BEAUTIFY_FLAG" val="#wm#"/>
  <p:tag name="KSO_WM_SLIDE_ID" val="custom2023128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1289"/>
  <p:tag name="KSO_WM_SLIDE_SUBTYPE" val="pureTxt"/>
  <p:tag name="KSO_WM_SLIDE_SIZE" val="829*445"/>
  <p:tag name="KSO_WM_SLIDE_POSITION" val="66*40"/>
  <p:tag name="KSO_WM_SLIDE_LAYOUT" val="a_f"/>
  <p:tag name="KSO_WM_SLIDE_LAYOUT_CNT" val="1_1"/>
</p:tagLst>
</file>

<file path=ppt/tags/tag86.xml><?xml version="1.0" encoding="utf-8"?>
<p:tagLst xmlns:p="http://schemas.openxmlformats.org/presentationml/2006/main">
  <p:tag name="KSO_WM_UNIT_TEXT" val="考试项目与分值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87.xml><?xml version="1.0" encoding="utf-8"?>
<p:tagLst xmlns:p="http://schemas.openxmlformats.org/presentationml/2006/main">
  <p:tag name="KSO_WM_SLIDE_TYPE" val="text"/>
  <p:tag name="KSO_WM_BEAUTIFY_FLAG" val="#wm#"/>
  <p:tag name="KSO_WM_SLIDE_ID" val="custom2023128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1289"/>
  <p:tag name="KSO_WM_SLIDE_SUBTYPE" val="pureTxt"/>
  <p:tag name="KSO_WM_SLIDE_SIZE" val="829*445"/>
  <p:tag name="KSO_WM_SLIDE_POSITION" val="66*40"/>
  <p:tag name="KSO_WM_SLIDE_LAYOUT" val="a_f"/>
  <p:tag name="KSO_WM_SLIDE_LAYOUT_CNT" val="1_1"/>
  <p:tag name="resource_record_key" val="{&quot;10&quot;:[50062604],&quot;65&quot;:[20231289]}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31289"/>
</p:tagLst>
</file>

<file path=ppt/tags/tag91.xml><?xml version="1.0" encoding="utf-8"?>
<p:tagLst xmlns:p="http://schemas.openxmlformats.org/presentationml/2006/main">
  <p:tag name="resource_record_key" val="{&quot;10&quot;:[50062604],&quot;65&quot;:[20231289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简约风渐变玻璃球职场办公">
  <a:themeElements>
    <a:clrScheme name="自定义 26">
      <a:dk1>
        <a:srgbClr val="000000"/>
      </a:dk1>
      <a:lt1>
        <a:srgbClr val="FFFFFF"/>
      </a:lt1>
      <a:dk2>
        <a:srgbClr val="000F3A"/>
      </a:dk2>
      <a:lt2>
        <a:srgbClr val="FFFFFF"/>
      </a:lt2>
      <a:accent1>
        <a:srgbClr val="2457D5"/>
      </a:accent1>
      <a:accent2>
        <a:srgbClr val="3CFFC0"/>
      </a:accent2>
      <a:accent3>
        <a:srgbClr val="DDC64F"/>
      </a:accent3>
      <a:accent4>
        <a:srgbClr val="2FC0EE"/>
      </a:accent4>
      <a:accent5>
        <a:srgbClr val="602FEE"/>
      </a:accent5>
      <a:accent6>
        <a:srgbClr val="89B900"/>
      </a:accent6>
      <a:hlink>
        <a:srgbClr val="304FFE"/>
      </a:hlink>
      <a:folHlink>
        <a:srgbClr val="492067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828</Words>
  <Application>WPS 演示</Application>
  <PresentationFormat>宽屏</PresentationFormat>
  <Paragraphs>41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Arial Unicode MS</vt:lpstr>
      <vt:lpstr>Calibri</vt:lpstr>
      <vt:lpstr>等线</vt:lpstr>
      <vt:lpstr>WPS</vt:lpstr>
      <vt:lpstr>简约风渐变玻璃球职场办公</vt:lpstr>
      <vt:lpstr>中考体育解读</vt:lpstr>
      <vt:lpstr>考试项目与分值</vt:lpstr>
      <vt:lpstr>评分标准</vt:lpstr>
      <vt:lpstr>暑期练习要求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zzzzz</cp:lastModifiedBy>
  <cp:revision>18</cp:revision>
  <dcterms:created xsi:type="dcterms:W3CDTF">2023-08-09T12:44:00Z</dcterms:created>
  <dcterms:modified xsi:type="dcterms:W3CDTF">2026-06-29T07:52:55Z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252C46ADE7814A25998069F0BAD54B0A_13</vt:lpwstr>
  </property>
</Properties>
</file>